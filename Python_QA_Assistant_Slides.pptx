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9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474720"/>
          </a:xfrm>
          <a:prstGeom prst="rect">
            <a:avLst/>
          </a:prstGeom>
          <a:solidFill>
            <a:srgbClr val="0C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0"/>
            <a:ext cx="54864" cy="6858000"/>
          </a:xfrm>
          <a:prstGeom prst="rect">
            <a:avLst/>
          </a:prstGeom>
          <a:solidFill>
            <a:srgbClr val="006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0" y="0"/>
            <a:ext cx="484632" cy="484632"/>
          </a:xfrm>
          <a:prstGeom prst="rect">
            <a:avLst/>
          </a:prstGeom>
          <a:solidFill>
            <a:srgbClr val="00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04320" y="6373368"/>
            <a:ext cx="484632" cy="484632"/>
          </a:xfrm>
          <a:prstGeom prst="rect">
            <a:avLst/>
          </a:prstGeom>
          <a:solidFill>
            <a:srgbClr val="00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27648"/>
            <a:ext cx="12188952" cy="530352"/>
          </a:xfrm>
          <a:prstGeom prst="rect">
            <a:avLst/>
          </a:prstGeom>
          <a:solidFill>
            <a:srgbClr val="050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27648"/>
            <a:ext cx="12188952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02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B4D8"/>
                </a:solidFill>
              </a:rPr>
              <a:t>ANALYTICS VIDHYA  —  AI ENGINEER ASSESSMENT  |  ROUND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960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Python Q&amp;A Assistant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95728"/>
            <a:ext cx="5029200" cy="457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5146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E5FF"/>
                </a:solidFill>
              </a:rPr>
              <a:t>CRAG + Self-RAG  |  LangGraph  |  Hybrid Retrieval  |  100% Open Source Models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54680"/>
            <a:ext cx="1266444" cy="347472"/>
          </a:xfrm>
          <a:prstGeom prst="rect">
            <a:avLst/>
          </a:prstGeom>
          <a:solidFill>
            <a:srgbClr val="002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154680"/>
            <a:ext cx="45720" cy="34747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172968"/>
            <a:ext cx="11567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5FF"/>
                </a:solidFill>
              </a:rPr>
              <a:t>LangGraph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0804" y="3154680"/>
            <a:ext cx="1161288" cy="347472"/>
          </a:xfrm>
          <a:prstGeom prst="rect">
            <a:avLst/>
          </a:prstGeom>
          <a:solidFill>
            <a:srgbClr val="003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60804" y="3154680"/>
            <a:ext cx="45720" cy="347472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52244" y="3172968"/>
            <a:ext cx="1051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FFB3"/>
                </a:solidFill>
              </a:rPr>
              <a:t>ChromaDB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59252" y="3154680"/>
            <a:ext cx="1056132" cy="347472"/>
          </a:xfrm>
          <a:prstGeom prst="rect">
            <a:avLst/>
          </a:prstGeom>
          <a:solidFill>
            <a:srgbClr val="332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59252" y="3154680"/>
            <a:ext cx="45720" cy="34747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50692" y="3172968"/>
            <a:ext cx="94640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600"/>
                </a:solidFill>
              </a:rPr>
              <a:t>FastAPI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2544" y="3154680"/>
            <a:ext cx="1266444" cy="347472"/>
          </a:xfrm>
          <a:prstGeom prst="rect">
            <a:avLst/>
          </a:prstGeom>
          <a:solidFill>
            <a:srgbClr val="251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52544" y="3154680"/>
            <a:ext cx="45720" cy="347472"/>
          </a:xfrm>
          <a:prstGeom prst="rect">
            <a:avLst/>
          </a:prstGeom>
          <a:solidFill>
            <a:srgbClr val="BD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43983" y="3172968"/>
            <a:ext cx="11567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D6FFF"/>
                </a:solidFill>
              </a:rPr>
              <a:t>gemma2:2b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56148" y="3154680"/>
            <a:ext cx="1266444" cy="347472"/>
          </a:xfrm>
          <a:prstGeom prst="rect">
            <a:avLst/>
          </a:prstGeom>
          <a:solidFill>
            <a:srgbClr val="331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756148" y="3154680"/>
            <a:ext cx="45720" cy="34747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3172968"/>
            <a:ext cx="11567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</a:rPr>
              <a:t>MiniLM-L6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59752" y="3154680"/>
            <a:ext cx="1161288" cy="347472"/>
          </a:xfrm>
          <a:prstGeom prst="rect">
            <a:avLst/>
          </a:prstGeom>
          <a:solidFill>
            <a:srgbClr val="3309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59752" y="3154680"/>
            <a:ext cx="45720" cy="34747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51192" y="3172968"/>
            <a:ext cx="1051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2D87"/>
                </a:solidFill>
              </a:rPr>
              <a:t>ms-marco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154680"/>
            <a:ext cx="1792224" cy="347472"/>
          </a:xfrm>
          <a:prstGeom prst="rect">
            <a:avLst/>
          </a:prstGeom>
          <a:solidFill>
            <a:srgbClr val="002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58200" y="3154680"/>
            <a:ext cx="4572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9640" y="3172968"/>
            <a:ext cx="16824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Stack Overflow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703320"/>
            <a:ext cx="3474720" cy="502920"/>
          </a:xfrm>
          <a:prstGeom prst="rect">
            <a:avLst/>
          </a:prstGeom>
          <a:solidFill>
            <a:srgbClr val="00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3703320"/>
            <a:ext cx="64008" cy="502920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3730752"/>
            <a:ext cx="3246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FFB3"/>
                </a:solidFill>
              </a:rPr>
              <a:t>All models 100% Open Source — No paid API required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36422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BED1"/>
                </a:solidFill>
              </a:rPr>
              <a:t>Devyansh Batra  |  devyanshbatra070@gmail.com  |  github.com/devyanshbatra/QA_RAG_BOT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636422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8BED1"/>
                </a:solidFill>
              </a:rPr>
              <a:t>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B4D8"/>
                </a:solidFill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658368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What We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22376"/>
            <a:ext cx="12188952" cy="36576"/>
          </a:xfrm>
          <a:prstGeom prst="rect">
            <a:avLst/>
          </a:prstGeom>
          <a:solidFill>
            <a:srgbClr val="1A2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58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E5FF"/>
                </a:solidFill>
              </a:rPr>
              <a:t>End-to-end AI Q&amp;A on 16,524 Stack Overflow Python chunks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B4D8"/>
                </a:solidFill>
              </a:rPr>
              <a:t>2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15568"/>
            <a:ext cx="5532120" cy="5440680"/>
          </a:xfrm>
          <a:prstGeom prst="rect">
            <a:avLst/>
          </a:prstGeom>
          <a:solidFill>
            <a:srgbClr val="180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115568"/>
            <a:ext cx="5532120" cy="457200"/>
          </a:xfrm>
          <a:prstGeom prst="rect">
            <a:avLst/>
          </a:prstGeom>
          <a:solidFill>
            <a:srgbClr val="3010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115568"/>
            <a:ext cx="91440" cy="54406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16128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</a:rPr>
              <a:t>THE PROBLEM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64208"/>
            <a:ext cx="5349240" cy="713232"/>
          </a:xfrm>
          <a:prstGeom prst="rect">
            <a:avLst/>
          </a:prstGeom>
          <a:solidFill>
            <a:srgbClr val="14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700784"/>
            <a:ext cx="5074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ED1"/>
                </a:solidFill>
              </a:rPr>
              <a:t>✗  Developers waste hours digging through Stack Overflow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05456"/>
            <a:ext cx="5349240" cy="713232"/>
          </a:xfrm>
          <a:prstGeom prst="rect">
            <a:avLst/>
          </a:prstGeom>
          <a:solidFill>
            <a:srgbClr val="14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42032"/>
            <a:ext cx="5074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ED1"/>
                </a:solidFill>
              </a:rPr>
              <a:t>✗  Keyword search misses semantic intent completely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346704"/>
            <a:ext cx="5349240" cy="713232"/>
          </a:xfrm>
          <a:prstGeom prst="rect">
            <a:avLst/>
          </a:prstGeom>
          <a:solidFill>
            <a:srgbClr val="14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83280"/>
            <a:ext cx="5074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ED1"/>
                </a:solidFill>
              </a:rPr>
              <a:t>✗  No quality check — retrieved docs may be irrelevant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187952"/>
            <a:ext cx="5349240" cy="713232"/>
          </a:xfrm>
          <a:prstGeom prst="rect">
            <a:avLst/>
          </a:prstGeom>
          <a:solidFill>
            <a:srgbClr val="14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224528"/>
            <a:ext cx="5074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ED1"/>
                </a:solidFill>
              </a:rPr>
              <a:t>✗  LLMs hallucinate on code without verified context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029200"/>
            <a:ext cx="5349240" cy="713232"/>
          </a:xfrm>
          <a:prstGeom prst="rect">
            <a:avLst/>
          </a:prstGeom>
          <a:solidFill>
            <a:srgbClr val="140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065776"/>
            <a:ext cx="5074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ED1"/>
                </a:solidFill>
              </a:rPr>
              <a:t>✗  No source traceability — where did this answer come from?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1115568"/>
            <a:ext cx="5623560" cy="5440680"/>
          </a:xfrm>
          <a:prstGeom prst="rect">
            <a:avLst/>
          </a:prstGeom>
          <a:solidFill>
            <a:srgbClr val="041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1115568"/>
            <a:ext cx="5623560" cy="457200"/>
          </a:xfrm>
          <a:prstGeom prst="rect">
            <a:avLst/>
          </a:prstGeom>
          <a:solidFill>
            <a:srgbClr val="062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115568"/>
            <a:ext cx="91440" cy="5440680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116128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FFB3"/>
                </a:solidFill>
              </a:rPr>
              <a:t>OUR SOLUTION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1664208"/>
            <a:ext cx="5440680" cy="713232"/>
          </a:xfrm>
          <a:prstGeom prst="rect">
            <a:avLst/>
          </a:prstGeom>
          <a:solidFill>
            <a:srgbClr val="041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700784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CRAG + Self-RAG — verified, grounded answers only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2505456"/>
            <a:ext cx="5440680" cy="713232"/>
          </a:xfrm>
          <a:prstGeom prst="rect">
            <a:avLst/>
          </a:prstGeom>
          <a:solidFill>
            <a:srgbClr val="041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2542032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Hybrid BM25 + Semantic MMR for maximum recall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346704"/>
            <a:ext cx="5440680" cy="713232"/>
          </a:xfrm>
          <a:prstGeom prst="rect">
            <a:avLst/>
          </a:prstGeom>
          <a:solidFill>
            <a:srgbClr val="041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383280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Cross-encoder reranking: top-10 docs → top-3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87952"/>
            <a:ext cx="5440680" cy="713232"/>
          </a:xfrm>
          <a:prstGeom prst="rect">
            <a:avLst/>
          </a:prstGeom>
          <a:solidFill>
            <a:srgbClr val="041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4224528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Cosine similarity hallucination guard (no LLM cost)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5029200"/>
            <a:ext cx="5440680" cy="713232"/>
          </a:xfrm>
          <a:prstGeom prst="rect">
            <a:avLst/>
          </a:prstGeom>
          <a:solidFill>
            <a:srgbClr val="041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5065776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Every answer cites exact Stack Overflow sources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5870448"/>
            <a:ext cx="5440680" cy="713232"/>
          </a:xfrm>
          <a:prstGeom prst="rect">
            <a:avLst/>
          </a:prstGeom>
          <a:solidFill>
            <a:srgbClr val="041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5907024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FastAPI + semantic cache — production ready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BD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658368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22376"/>
            <a:ext cx="12188952" cy="36576"/>
          </a:xfrm>
          <a:prstGeom prst="rect">
            <a:avLst/>
          </a:prstGeom>
          <a:solidFill>
            <a:srgbClr val="1A2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58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6FFF"/>
                </a:solidFill>
              </a:rPr>
              <a:t>LangGraph pipeline — only 2 LLM calls on happy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B4D8"/>
                </a:solidFill>
              </a:rPr>
              <a:t>3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5" y="1865376"/>
            <a:ext cx="1783080" cy="1115568"/>
          </a:xfrm>
          <a:prstGeom prst="rect">
            <a:avLst/>
          </a:prstGeom>
          <a:solidFill>
            <a:srgbClr val="003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4592" y="1828800"/>
            <a:ext cx="1719072" cy="1078992"/>
          </a:xfrm>
          <a:prstGeom prst="rect">
            <a:avLst/>
          </a:prstGeom>
          <a:solidFill>
            <a:srgbClr val="1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4592" y="1828800"/>
            <a:ext cx="1719072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" y="1920240"/>
            <a:ext cx="17190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User
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212848"/>
            <a:ext cx="5120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E5FF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17904" y="1865376"/>
            <a:ext cx="1783080" cy="1115568"/>
          </a:xfrm>
          <a:prstGeom prst="rect">
            <a:avLst/>
          </a:prstGeom>
          <a:solidFill>
            <a:srgbClr val="002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4480" y="1828800"/>
            <a:ext cx="1719072" cy="1078992"/>
          </a:xfrm>
          <a:prstGeom prst="rect">
            <a:avLst/>
          </a:prstGeom>
          <a:solidFill>
            <a:srgbClr val="1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54480" y="1828800"/>
            <a:ext cx="171907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1920240"/>
            <a:ext cx="17190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Query
Rewrite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2212848"/>
            <a:ext cx="5120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07792" y="1865376"/>
            <a:ext cx="1783080" cy="1115568"/>
          </a:xfrm>
          <a:prstGeom prst="rect">
            <a:avLst/>
          </a:prstGeom>
          <a:solidFill>
            <a:srgbClr val="002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44368" y="1828800"/>
            <a:ext cx="1719072" cy="1078992"/>
          </a:xfrm>
          <a:prstGeom prst="rect">
            <a:avLst/>
          </a:prstGeom>
          <a:solidFill>
            <a:srgbClr val="1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4368" y="1828800"/>
            <a:ext cx="171907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44368" y="1920240"/>
            <a:ext cx="17190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Hybrid
Retrieve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2212848"/>
            <a:ext cx="5120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1865376"/>
            <a:ext cx="1783080" cy="1115568"/>
          </a:xfrm>
          <a:prstGeom prst="rect">
            <a:avLst/>
          </a:prstGeom>
          <a:solidFill>
            <a:srgbClr val="2F1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34256" y="1828800"/>
            <a:ext cx="1719072" cy="1078992"/>
          </a:xfrm>
          <a:prstGeom prst="rect">
            <a:avLst/>
          </a:prstGeom>
          <a:solidFill>
            <a:srgbClr val="1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34256" y="1828800"/>
            <a:ext cx="1719072" cy="73152"/>
          </a:xfrm>
          <a:prstGeom prst="rect">
            <a:avLst/>
          </a:prstGeom>
          <a:solidFill>
            <a:srgbClr val="BD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4256" y="1920240"/>
            <a:ext cx="17190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Cross-Enc
Rerank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2212848"/>
            <a:ext cx="5120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BD6FFF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87568" y="1865376"/>
            <a:ext cx="1783080" cy="1115568"/>
          </a:xfrm>
          <a:prstGeom prst="rect">
            <a:avLst/>
          </a:prstGeom>
          <a:solidFill>
            <a:srgbClr val="2F1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24144" y="1828800"/>
            <a:ext cx="1719072" cy="1078992"/>
          </a:xfrm>
          <a:prstGeom prst="rect">
            <a:avLst/>
          </a:prstGeom>
          <a:solidFill>
            <a:srgbClr val="1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724144" y="1828800"/>
            <a:ext cx="1719072" cy="73152"/>
          </a:xfrm>
          <a:prstGeom prst="rect">
            <a:avLst/>
          </a:prstGeom>
          <a:solidFill>
            <a:srgbClr val="BD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24144" y="1920240"/>
            <a:ext cx="17190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Doc
Grading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3216" y="2212848"/>
            <a:ext cx="5120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BD6FFF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77456" y="1865376"/>
            <a:ext cx="1783080" cy="1115568"/>
          </a:xfrm>
          <a:prstGeom prst="rect">
            <a:avLst/>
          </a:prstGeom>
          <a:solidFill>
            <a:srgbClr val="003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14032" y="1828800"/>
            <a:ext cx="1719072" cy="1078992"/>
          </a:xfrm>
          <a:prstGeom prst="rect">
            <a:avLst/>
          </a:prstGeom>
          <a:solidFill>
            <a:srgbClr val="1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14032" y="1828800"/>
            <a:ext cx="1719072" cy="73152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14032" y="1920240"/>
            <a:ext cx="17190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Generate
Answer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33104" y="2212848"/>
            <a:ext cx="5120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FFB3"/>
                </a:solidFill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67344" y="1865376"/>
            <a:ext cx="1783080" cy="1115568"/>
          </a:xfrm>
          <a:prstGeom prst="rect">
            <a:avLst/>
          </a:prstGeom>
          <a:solidFill>
            <a:srgbClr val="3F1A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3920" y="1828800"/>
            <a:ext cx="1719072" cy="1078992"/>
          </a:xfrm>
          <a:prstGeom prst="rect">
            <a:avLst/>
          </a:prstGeom>
          <a:solidFill>
            <a:srgbClr val="1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1828800"/>
            <a:ext cx="171907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3920" y="1920240"/>
            <a:ext cx="17190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Answer
Grading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22992" y="2212848"/>
            <a:ext cx="5120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6B35"/>
                </a:solidFill>
              </a:rPr>
              <a:t>→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57232" y="1865376"/>
            <a:ext cx="1783080" cy="1115568"/>
          </a:xfrm>
          <a:prstGeom prst="rect">
            <a:avLst/>
          </a:prstGeom>
          <a:solidFill>
            <a:srgbClr val="003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93808" y="1828800"/>
            <a:ext cx="1719072" cy="1078992"/>
          </a:xfrm>
          <a:prstGeom prst="rect">
            <a:avLst/>
          </a:prstGeom>
          <a:solidFill>
            <a:srgbClr val="1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893808" y="1828800"/>
            <a:ext cx="1719072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93808" y="1920240"/>
            <a:ext cx="17190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FastAPI
Response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4592" y="2999232"/>
            <a:ext cx="1719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A8BED1"/>
                </a:solidFill>
              </a:rPr>
              <a:t>Input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54480" y="2999232"/>
            <a:ext cx="1719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A8BED1"/>
                </a:solidFill>
              </a:rPr>
              <a:t>LLM #1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44368" y="2999232"/>
            <a:ext cx="1719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A8BED1"/>
                </a:solidFill>
              </a:rPr>
              <a:t>BM25+MMR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34256" y="2999232"/>
            <a:ext cx="1719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A8BED1"/>
                </a:solidFill>
              </a:rPr>
              <a:t>ms-marco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24144" y="2999232"/>
            <a:ext cx="1719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A8BED1"/>
                </a:solidFill>
              </a:rPr>
              <a:t>Cosine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14031" y="2999232"/>
            <a:ext cx="1719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A8BED1"/>
                </a:solidFill>
              </a:rPr>
              <a:t>LLM #2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2999232"/>
            <a:ext cx="1719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A8BED1"/>
                </a:solidFill>
              </a:rPr>
              <a:t>Cosine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93808" y="2999232"/>
            <a:ext cx="1719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A8BED1"/>
                </a:solidFill>
              </a:rPr>
              <a:t>JSON+Cache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64592" y="3401568"/>
            <a:ext cx="9619488" cy="45720"/>
          </a:xfrm>
          <a:prstGeom prst="rect">
            <a:avLst/>
          </a:prstGeom>
          <a:solidFill>
            <a:srgbClr val="2A1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0" y="349300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F6B35"/>
                </a:solidFill>
              </a:rPr>
              <a:t>↩  Retry loop (max 2×) — expands with Multi-Query + HyDE on retry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24144" y="3950208"/>
            <a:ext cx="1719072" cy="749808"/>
          </a:xfrm>
          <a:prstGeom prst="rect">
            <a:avLst/>
          </a:prstGeom>
          <a:solidFill>
            <a:srgbClr val="20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724144" y="3950208"/>
            <a:ext cx="64008" cy="749808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88152" y="3986784"/>
            <a:ext cx="160020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D600"/>
                </a:solidFill>
              </a:rPr>
              <a:t>Fallback
Retrieval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4069080"/>
            <a:ext cx="1115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8BED1"/>
                </a:solidFill>
              </a:rPr>
              <a:t>no docs 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503920" y="3950208"/>
            <a:ext cx="2377440" cy="749808"/>
          </a:xfrm>
          <a:prstGeom prst="rect">
            <a:avLst/>
          </a:prstGeom>
          <a:solidFill>
            <a:srgbClr val="04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503920" y="3950208"/>
            <a:ext cx="64008" cy="749808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95360" y="3986784"/>
            <a:ext cx="22402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FFB3"/>
                </a:solidFill>
              </a:rPr>
              <a:t>Semantic Cache
diskcache + cosine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6640" y="4069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8BED1"/>
                </a:solidFill>
              </a:rPr>
              <a:t>cache hit →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4892040"/>
            <a:ext cx="11521440" cy="475488"/>
          </a:xfrm>
          <a:prstGeom prst="rect">
            <a:avLst/>
          </a:prstGeom>
          <a:solidFill>
            <a:srgbClr val="08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20040" y="4892040"/>
            <a:ext cx="64008" cy="475488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" y="491947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FFB3"/>
                </a:solidFill>
              </a:rPr>
              <a:t>Multi-Query + HyDE skip on first pass → saves 2 LLM calls → 63% latency reduction vs naive pipeline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0040" y="5468112"/>
            <a:ext cx="11521440" cy="475488"/>
          </a:xfrm>
          <a:prstGeom prst="rect">
            <a:avLst/>
          </a:prstGeom>
          <a:solidFill>
            <a:srgbClr val="0C0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20040" y="5468112"/>
            <a:ext cx="64008" cy="475488"/>
          </a:xfrm>
          <a:prstGeom prst="rect">
            <a:avLst/>
          </a:prstGeom>
          <a:solidFill>
            <a:srgbClr val="BD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5495544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D6FFF"/>
                </a:solidFill>
              </a:rPr>
              <a:t>Doc grading + Answer grading use cosine similarity — zero extra LLM calls, sub-100ms each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658368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CRAG vs Simple RAG — What Makes Us Different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22376"/>
            <a:ext cx="12188952" cy="36576"/>
          </a:xfrm>
          <a:prstGeom prst="rect">
            <a:avLst/>
          </a:prstGeom>
          <a:solidFill>
            <a:srgbClr val="1A2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58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D600"/>
                </a:solidFill>
              </a:rPr>
              <a:t>10 capabilities absent from naive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B4D8"/>
                </a:solidFill>
              </a:rPr>
              <a:t>4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097280"/>
            <a:ext cx="3520440" cy="475488"/>
          </a:xfrm>
          <a:prstGeom prst="rect">
            <a:avLst/>
          </a:prstGeom>
          <a:solidFill>
            <a:srgbClr val="1E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931920" y="1097280"/>
            <a:ext cx="3749039" cy="475488"/>
          </a:xfrm>
          <a:prstGeom prst="rect">
            <a:avLst/>
          </a:prstGeom>
          <a:solidFill>
            <a:srgbClr val="2810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1097280"/>
            <a:ext cx="4069080" cy="475488"/>
          </a:xfrm>
          <a:prstGeom prst="rect">
            <a:avLst/>
          </a:prstGeom>
          <a:solidFill>
            <a:srgbClr val="042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115568"/>
            <a:ext cx="3337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600"/>
                </a:solidFill>
              </a:rPr>
              <a:t>FEATURE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1115568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6B35"/>
                </a:solidFill>
              </a:rPr>
              <a:t>SIMPLE 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1115568"/>
            <a:ext cx="3840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FFB3"/>
                </a:solidFill>
              </a:rPr>
              <a:t>OUR CRAG + SELF-RAG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591056"/>
            <a:ext cx="3520440" cy="420624"/>
          </a:xfrm>
          <a:prstGeom prst="rect">
            <a:avLst/>
          </a:prstGeom>
          <a:solidFill>
            <a:srgbClr val="0C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31920" y="1591056"/>
            <a:ext cx="3749039" cy="420624"/>
          </a:xfrm>
          <a:prstGeom prst="rect">
            <a:avLst/>
          </a:prstGeom>
          <a:solidFill>
            <a:srgbClr val="0C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1591056"/>
            <a:ext cx="4069080" cy="420624"/>
          </a:xfrm>
          <a:prstGeom prst="rect">
            <a:avLst/>
          </a:prstGeom>
          <a:solidFill>
            <a:srgbClr val="0C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1609344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600"/>
                </a:solidFill>
              </a:rPr>
              <a:t>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1609344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B35"/>
                </a:solidFill>
              </a:rPr>
              <a:t>✗  Single semantic vector 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160934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FFB3"/>
                </a:solidFill>
              </a:rPr>
              <a:t>✓  Hybrid BM25 (0.4) + Semantic MMR (0.6)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025395"/>
            <a:ext cx="3520440" cy="420624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0" y="2025395"/>
            <a:ext cx="3749039" cy="420624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0" y="2025395"/>
            <a:ext cx="4069080" cy="420624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043684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600"/>
                </a:solidFill>
              </a:rPr>
              <a:t>Query processing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9080" y="2043684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B35"/>
                </a:solidFill>
              </a:rPr>
              <a:t>✗  Raw question — no improvement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9560" y="204368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FFB3"/>
                </a:solidFill>
              </a:rPr>
              <a:t>✓  LLM rewrites query for specificity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459736"/>
            <a:ext cx="3520440" cy="420624"/>
          </a:xfrm>
          <a:prstGeom prst="rect">
            <a:avLst/>
          </a:prstGeom>
          <a:solidFill>
            <a:srgbClr val="0C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931920" y="2459736"/>
            <a:ext cx="3749039" cy="420624"/>
          </a:xfrm>
          <a:prstGeom prst="rect">
            <a:avLst/>
          </a:prstGeom>
          <a:solidFill>
            <a:srgbClr val="0C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0" y="2459736"/>
            <a:ext cx="4069080" cy="420624"/>
          </a:xfrm>
          <a:prstGeom prst="rect">
            <a:avLst/>
          </a:prstGeom>
          <a:solidFill>
            <a:srgbClr val="0C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478024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600"/>
                </a:solidFill>
              </a:rPr>
              <a:t>Multi-query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9080" y="2478024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B35"/>
                </a:solidFill>
              </a:rPr>
              <a:t>✗  Not present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247802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FFB3"/>
                </a:solidFill>
              </a:rPr>
              <a:t>✓  3 query variants generated on retry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2894076"/>
            <a:ext cx="3520440" cy="420624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931920" y="2894076"/>
            <a:ext cx="3749039" cy="420624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0" y="2894076"/>
            <a:ext cx="4069080" cy="420624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2912363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600"/>
                </a:solidFill>
              </a:rPr>
              <a:t>HyDE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9080" y="2912363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B35"/>
                </a:solidFill>
              </a:rPr>
              <a:t>✗  Not present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12363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FFB3"/>
                </a:solidFill>
              </a:rPr>
              <a:t>✓  Hypothetical doc embedding on retry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3328415"/>
            <a:ext cx="3520440" cy="420624"/>
          </a:xfrm>
          <a:prstGeom prst="rect">
            <a:avLst/>
          </a:prstGeom>
          <a:solidFill>
            <a:srgbClr val="0C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931920" y="3328415"/>
            <a:ext cx="3749039" cy="420624"/>
          </a:xfrm>
          <a:prstGeom prst="rect">
            <a:avLst/>
          </a:prstGeom>
          <a:solidFill>
            <a:srgbClr val="0C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0" y="3328415"/>
            <a:ext cx="4069080" cy="420624"/>
          </a:xfrm>
          <a:prstGeom prst="rect">
            <a:avLst/>
          </a:prstGeom>
          <a:solidFill>
            <a:srgbClr val="0C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3346704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600"/>
                </a:solidFill>
              </a:rPr>
              <a:t>Reranking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69080" y="3346704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B35"/>
                </a:solidFill>
              </a:rPr>
              <a:t>✗  Not present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09560" y="334670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FFB3"/>
                </a:solidFill>
              </a:rPr>
              <a:t>✓  Cross-encoder ms-marco reranker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3762756"/>
            <a:ext cx="3520440" cy="420624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31920" y="3762756"/>
            <a:ext cx="3749039" cy="420624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0" y="3762756"/>
            <a:ext cx="4069080" cy="420624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3781044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600"/>
                </a:solidFill>
              </a:rPr>
              <a:t>Doc quality check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69080" y="3781044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B35"/>
                </a:solidFill>
              </a:rPr>
              <a:t>✗  Blind — uses all retrieved docs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09560" y="378104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FFB3"/>
                </a:solidFill>
              </a:rPr>
              <a:t>✓  Cosine similarity threshold grading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4197096"/>
            <a:ext cx="3520440" cy="420624"/>
          </a:xfrm>
          <a:prstGeom prst="rect">
            <a:avLst/>
          </a:prstGeom>
          <a:solidFill>
            <a:srgbClr val="0C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31920" y="4197096"/>
            <a:ext cx="3749039" cy="420624"/>
          </a:xfrm>
          <a:prstGeom prst="rect">
            <a:avLst/>
          </a:prstGeom>
          <a:solidFill>
            <a:srgbClr val="0C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0" y="4197096"/>
            <a:ext cx="4069080" cy="420624"/>
          </a:xfrm>
          <a:prstGeom prst="rect">
            <a:avLst/>
          </a:prstGeom>
          <a:solidFill>
            <a:srgbClr val="0C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4215383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600"/>
                </a:solidFill>
              </a:rPr>
              <a:t>Hallucination guard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69080" y="4215383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B35"/>
                </a:solidFill>
              </a:rPr>
              <a:t>✗  Not present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09560" y="4215383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FFB3"/>
                </a:solidFill>
              </a:rPr>
              <a:t>✓  Answer graded vs context cosine sim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4631436"/>
            <a:ext cx="3520440" cy="420624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931920" y="4631436"/>
            <a:ext cx="3749039" cy="420624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72400" y="4631436"/>
            <a:ext cx="4069080" cy="420624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0" y="4649724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600"/>
                </a:solidFill>
              </a:rPr>
              <a:t>Retry logic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69080" y="4649724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B35"/>
                </a:solidFill>
              </a:rPr>
              <a:t>✗  Single shot — no recovery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09560" y="464972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FFB3"/>
                </a:solidFill>
              </a:rPr>
              <a:t>✓  Up to 2 retries with expanded query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" y="5065776"/>
            <a:ext cx="3520440" cy="420624"/>
          </a:xfrm>
          <a:prstGeom prst="rect">
            <a:avLst/>
          </a:prstGeom>
          <a:solidFill>
            <a:srgbClr val="0C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931920" y="5065776"/>
            <a:ext cx="3749039" cy="420624"/>
          </a:xfrm>
          <a:prstGeom prst="rect">
            <a:avLst/>
          </a:prstGeom>
          <a:solidFill>
            <a:srgbClr val="0C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72400" y="5065776"/>
            <a:ext cx="4069080" cy="420624"/>
          </a:xfrm>
          <a:prstGeom prst="rect">
            <a:avLst/>
          </a:prstGeom>
          <a:solidFill>
            <a:srgbClr val="0C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5084064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600"/>
                </a:solidFill>
              </a:rPr>
              <a:t>Semantic cache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69080" y="5084064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B35"/>
                </a:solidFill>
              </a:rPr>
              <a:t>✗  Not present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09560" y="508406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FFB3"/>
                </a:solidFill>
              </a:rPr>
              <a:t>✓  diskcache + cosine — 30% queries free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0040" y="5500116"/>
            <a:ext cx="3520440" cy="420624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931920" y="5500116"/>
            <a:ext cx="3749039" cy="420624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772400" y="5500116"/>
            <a:ext cx="4069080" cy="420624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1480" y="5518403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600"/>
                </a:solidFill>
              </a:rPr>
              <a:t>Source citations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69080" y="5518403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B35"/>
                </a:solidFill>
              </a:rPr>
              <a:t>✗  Often missing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909560" y="5518403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FFB3"/>
                </a:solidFill>
              </a:rPr>
              <a:t>✓  Every answer cites SO sources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658368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100% Open Source Models — Zero Paid API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22376"/>
            <a:ext cx="12188952" cy="36576"/>
          </a:xfrm>
          <a:prstGeom prst="rect">
            <a:avLst/>
          </a:prstGeom>
          <a:solidFill>
            <a:srgbClr val="1A2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58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FFB3"/>
                </a:solidFill>
              </a:rPr>
              <a:t>Every model is freely available on HuggingFace or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B4D8"/>
                </a:solidFill>
              </a:rPr>
              <a:t>5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5715000" cy="2578608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143000"/>
            <a:ext cx="5715000" cy="73152"/>
          </a:xfrm>
          <a:prstGeom prst="rect">
            <a:avLst/>
          </a:prstGeom>
          <a:solidFill>
            <a:srgbClr val="BD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16152"/>
            <a:ext cx="82296" cy="2505456"/>
          </a:xfrm>
          <a:prstGeom prst="rect">
            <a:avLst/>
          </a:prstGeom>
          <a:solidFill>
            <a:srgbClr val="BD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280160"/>
            <a:ext cx="1508760" cy="274320"/>
          </a:xfrm>
          <a:prstGeom prst="rect">
            <a:avLst/>
          </a:prstGeom>
          <a:solidFill>
            <a:srgbClr val="1F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28016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D6FFF"/>
                </a:solidFill>
              </a:rPr>
              <a:t>Language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2801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D6FFF"/>
                </a:solidFill>
              </a:rPr>
              <a:t>gemma2:2b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709928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ED1"/>
                </a:solidFill>
              </a:rPr>
              <a:t>Google DeepMind  |  Ollama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01168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2B parameter instruction-tuned model. Runs locally via Ollama on any GPU.
No API key, no rate limits, no cost per token. Apache 2.0 license.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46120"/>
            <a:ext cx="5394960" cy="329184"/>
          </a:xfrm>
          <a:prstGeom prst="rect">
            <a:avLst/>
          </a:prstGeom>
          <a:solidFill>
            <a:srgbClr val="06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59" y="326440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FF"/>
                </a:solidFill>
              </a:rPr>
              <a:t>ollama pull gemma2:2b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59" y="1143000"/>
            <a:ext cx="5715000" cy="2578608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59" y="1143000"/>
            <a:ext cx="5715000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59" y="1216152"/>
            <a:ext cx="82296" cy="250545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424159" y="1280160"/>
            <a:ext cx="1508760" cy="274320"/>
          </a:xfrm>
          <a:prstGeom prst="rect">
            <a:avLst/>
          </a:prstGeom>
          <a:solidFill>
            <a:srgbClr val="002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59" y="128016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E5FF"/>
                </a:solidFill>
              </a:rPr>
              <a:t>Embedding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2801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E5FF"/>
                </a:solidFill>
              </a:rPr>
              <a:t>all-MiniLM-L6-v2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1709928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ED1"/>
                </a:solidFill>
              </a:rPr>
              <a:t>sentence-transformers  |  HuggingFace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01168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384-dim embeddings. GPU-accelerated via CUDA. batch_size=256 for fast ingestion.
MIT license. Powers all semantic search in ChromaDB.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3246120"/>
            <a:ext cx="5394960" cy="329184"/>
          </a:xfrm>
          <a:prstGeom prst="rect">
            <a:avLst/>
          </a:prstGeom>
          <a:solidFill>
            <a:srgbClr val="06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79" y="326440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FF"/>
                </a:solidFill>
              </a:rPr>
              <a:t>sentence-transformers/all-MiniLM-L6-v2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840480"/>
            <a:ext cx="5715000" cy="2578608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3840480"/>
            <a:ext cx="571500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3913632"/>
            <a:ext cx="82296" cy="250545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34840" y="3977640"/>
            <a:ext cx="1508760" cy="274320"/>
          </a:xfrm>
          <a:prstGeom prst="rect">
            <a:avLst/>
          </a:prstGeom>
          <a:solidFill>
            <a:srgbClr val="2A1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34840" y="397764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6B35"/>
                </a:solidFill>
              </a:rPr>
              <a:t>Reranker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39776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35"/>
                </a:solidFill>
              </a:rPr>
              <a:t>ms-marco-MiniLM-L-6-v2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407408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ED1"/>
                </a:solidFill>
              </a:rPr>
              <a:t>cross-encoder  |  HuggingFace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0916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Cross-encoder trained on MS MARCO passage ranking. Reads query+doc together.
Apache 2.0 license. Reranks top-10 to top-3 with high precision.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943600"/>
            <a:ext cx="5394960" cy="329184"/>
          </a:xfrm>
          <a:prstGeom prst="rect">
            <a:avLst/>
          </a:prstGeom>
          <a:solidFill>
            <a:srgbClr val="06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59" y="596188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FF"/>
                </a:solidFill>
              </a:rPr>
              <a:t>cross-encoder/ms-marco-MiniLM-L-6-v2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59" y="3840480"/>
            <a:ext cx="5715000" cy="2578608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09359" y="3840480"/>
            <a:ext cx="5715000" cy="73152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59" y="3913632"/>
            <a:ext cx="82296" cy="2505456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424159" y="3977640"/>
            <a:ext cx="1508760" cy="274320"/>
          </a:xfrm>
          <a:prstGeom prst="rect">
            <a:avLst/>
          </a:prstGeom>
          <a:solidFill>
            <a:srgbClr val="002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24159" y="397764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FFB3"/>
                </a:solidFill>
              </a:rPr>
              <a:t>Vector Store + BM25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9776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FFB3"/>
                </a:solidFill>
              </a:rPr>
              <a:t>ChromaDB + rank-bm25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4407408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ED1"/>
                </a:solidFill>
              </a:rPr>
              <a:t>chroma-core + dorianlg  |  PyPI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470916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ChromaDB: Apache 2.0, persists 16,524 vectors locally.
rank-bm25: MIT license. No cloud dependency, fully offline capable.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5943600"/>
            <a:ext cx="5394960" cy="329184"/>
          </a:xfrm>
          <a:prstGeom prst="rect">
            <a:avLst/>
          </a:prstGeom>
          <a:solidFill>
            <a:srgbClr val="06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79" y="596188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FF"/>
                </a:solidFill>
              </a:rPr>
              <a:t>pip install chromadb rank-bm25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658368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Latency Optimizations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22376"/>
            <a:ext cx="12188952" cy="36576"/>
          </a:xfrm>
          <a:prstGeom prst="rect">
            <a:avLst/>
          </a:prstGeom>
          <a:solidFill>
            <a:srgbClr val="1A2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58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6B35"/>
                </a:solidFill>
              </a:rPr>
              <a:t>From ~30s naive  →  ~11s optimized  (63% reduction)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B4D8"/>
                </a:solidFill>
              </a:rPr>
              <a:t>6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15568"/>
            <a:ext cx="11521440" cy="530352"/>
          </a:xfrm>
          <a:prstGeom prst="rect">
            <a:avLst/>
          </a:prstGeom>
          <a:solidFill>
            <a:srgbClr val="22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115568"/>
            <a:ext cx="82296" cy="5303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52144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</a:rPr>
              <a:t>BEFORE:  ~30 seconds  |  6 sequential LLM calls per query  |  Multi-Query + HyDE on every request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737360"/>
            <a:ext cx="11521440" cy="530352"/>
          </a:xfrm>
          <a:prstGeom prst="rect">
            <a:avLst/>
          </a:prstGeom>
          <a:solidFill>
            <a:srgbClr val="0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1737360"/>
            <a:ext cx="82296" cy="530352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73936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FB3"/>
                </a:solidFill>
              </a:rPr>
              <a:t>AFTER:    ~11 seconds  |  2 LLM calls on happy path  |  Multi-Query + HyDE only on retry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3794760" cy="1901952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2423160"/>
            <a:ext cx="3794760" cy="6400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8920" y="2551176"/>
            <a:ext cx="1234440" cy="274320"/>
          </a:xfrm>
          <a:prstGeom prst="rect">
            <a:avLst/>
          </a:prstGeom>
          <a:solidFill>
            <a:srgbClr val="002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8920" y="2551176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E5FF"/>
                </a:solidFill>
              </a:rPr>
              <a:t>~6s saved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551176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</a:rPr>
              <a:t>Skip Multi-Query
+ HyDE on Pass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081528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BED1"/>
                </a:solidFill>
              </a:rPr>
              <a:t>2 LLM calls removed from every first-attempt query.
Only activates on retry when retrieval fails.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79" y="2423160"/>
            <a:ext cx="3794760" cy="1901952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79" y="2423160"/>
            <a:ext cx="3794760" cy="64008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66559" y="2551176"/>
            <a:ext cx="1234440" cy="274320"/>
          </a:xfrm>
          <a:prstGeom prst="rect">
            <a:avLst/>
          </a:prstGeom>
          <a:solidFill>
            <a:srgbClr val="002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59" y="2551176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FFB3"/>
                </a:solidFill>
              </a:rPr>
              <a:t>~6s saved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2551176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FB3"/>
                </a:solidFill>
              </a:rPr>
              <a:t>Cosine Grading
(No LLM grader)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3081528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BED1"/>
                </a:solidFill>
              </a:rPr>
              <a:t>Replaced 2 LLM grading calls with numpy cosine.
Sub-100ms each vs ~3s per LLM call.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19" y="2423160"/>
            <a:ext cx="3794760" cy="1901952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2423160"/>
            <a:ext cx="3794760" cy="64008"/>
          </a:xfrm>
          <a:prstGeom prst="rect">
            <a:avLst/>
          </a:prstGeom>
          <a:solidFill>
            <a:srgbClr val="BD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744200" y="2551176"/>
            <a:ext cx="1234440" cy="274320"/>
          </a:xfrm>
          <a:prstGeom prst="rect">
            <a:avLst/>
          </a:prstGeom>
          <a:solidFill>
            <a:srgbClr val="1F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44200" y="2551176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BD6FFF"/>
                </a:solidFill>
              </a:rPr>
              <a:t>0ms on hit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551176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D6FFF"/>
                </a:solidFill>
              </a:rPr>
              <a:t>Semantic Cache
diskcache + cosine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081528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BED1"/>
                </a:solidFill>
              </a:rPr>
              <a:t>Similar queries served instantly.
~30% cache hit rate expected in production.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434840"/>
            <a:ext cx="3794760" cy="1901952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4434840"/>
            <a:ext cx="3794760" cy="64008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88920" y="4562855"/>
            <a:ext cx="1234440" cy="274320"/>
          </a:xfrm>
          <a:prstGeom prst="rect">
            <a:avLst/>
          </a:prstGeom>
          <a:solidFill>
            <a:srgbClr val="2A2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8920" y="4562855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D600"/>
                </a:solidFill>
              </a:rPr>
              <a:t>No reload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62855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600"/>
                </a:solidFill>
              </a:rPr>
              <a:t>Singleton Loading
Models loaded once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093207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BED1"/>
                </a:solidFill>
              </a:rPr>
              <a:t>Embeddings, LLM, reranker loaded at startup.
Zero reload overhead per request.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97679" y="4434840"/>
            <a:ext cx="3794760" cy="1901952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297679" y="4434840"/>
            <a:ext cx="3794760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66559" y="4562855"/>
            <a:ext cx="1234440" cy="274320"/>
          </a:xfrm>
          <a:prstGeom prst="rect">
            <a:avLst/>
          </a:prstGeom>
          <a:solidFill>
            <a:srgbClr val="2A1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66559" y="4562855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6B35"/>
                </a:solidFill>
              </a:rPr>
              <a:t>10× faster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4840" y="4562855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</a:rPr>
              <a:t>GPU Acceleration
CUDA RTX 3050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34840" y="5093207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BED1"/>
                </a:solidFill>
              </a:rPr>
              <a:t>Embeddings + reranking on GPU.
Reranks 10 docs in &lt;200ms vs 2s on CPU.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5319" y="4434840"/>
            <a:ext cx="3794760" cy="1901952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75319" y="4434840"/>
            <a:ext cx="3794760" cy="64008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744200" y="4562855"/>
            <a:ext cx="1234440" cy="274320"/>
          </a:xfrm>
          <a:prstGeom prst="rect">
            <a:avLst/>
          </a:prstGeom>
          <a:solidFill>
            <a:srgbClr val="2A07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744200" y="4562855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2D87"/>
                </a:solidFill>
              </a:rPr>
              <a:t>Better docs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4562855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2D87"/>
                </a:solidFill>
              </a:rPr>
              <a:t>Query Rewrite First
Narrow search space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5093207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BED1"/>
                </a:solidFill>
              </a:rPr>
              <a:t>Rewritten query retrieves more relevant chunks.
Reranker works on a higher quality pool.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658368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Tech Stack — Fully Open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22376"/>
            <a:ext cx="12188952" cy="36576"/>
          </a:xfrm>
          <a:prstGeom prst="rect">
            <a:avLst/>
          </a:prstGeom>
          <a:solidFill>
            <a:srgbClr val="1A2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58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B4D8"/>
                </a:solidFill>
              </a:rPr>
              <a:t>Every component is free, open source, and production proven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B4D8"/>
                </a:solidFill>
              </a:rPr>
              <a:t>7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15568"/>
            <a:ext cx="11521440" cy="420624"/>
          </a:xfrm>
          <a:prstGeom prst="rect">
            <a:avLst/>
          </a:prstGeom>
          <a:solidFill>
            <a:srgbClr val="1E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13385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COMPONENT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133856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133856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LICENSE / SOURCE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54480"/>
            <a:ext cx="11521440" cy="402336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1554480"/>
            <a:ext cx="64008" cy="402336"/>
          </a:xfrm>
          <a:prstGeom prst="rect">
            <a:avLst/>
          </a:prstGeom>
          <a:solidFill>
            <a:srgbClr val="BD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572768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BED1"/>
                </a:solidFill>
              </a:rPr>
              <a:t>Language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157276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D6FFF"/>
                </a:solidFill>
              </a:rPr>
              <a:t>gemma2:2b via Ollama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157276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ED1"/>
                </a:solidFill>
              </a:rPr>
              <a:t>Google DeepMind — Apache 2.0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975104"/>
            <a:ext cx="11521440" cy="402336"/>
          </a:xfrm>
          <a:prstGeom prst="rect">
            <a:avLst/>
          </a:prstGeom>
          <a:solidFill>
            <a:srgbClr val="13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1975104"/>
            <a:ext cx="64008" cy="40233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993392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BED1"/>
                </a:solidFill>
              </a:rPr>
              <a:t>Agent Framework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1993392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E5FF"/>
                </a:solidFill>
              </a:rPr>
              <a:t>LangGraph — StateGraph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19933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ED1"/>
                </a:solidFill>
              </a:rPr>
              <a:t>LangChain Inc — MIT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395728"/>
            <a:ext cx="11521440" cy="402336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2395728"/>
            <a:ext cx="64008" cy="40233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414016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BED1"/>
                </a:solidFill>
              </a:rPr>
              <a:t>Orchestration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414016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E5FF"/>
                </a:solidFill>
              </a:rPr>
              <a:t>LangChain chains +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414016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ED1"/>
                </a:solidFill>
              </a:rPr>
              <a:t>LangChain Inc — MIT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2816352"/>
            <a:ext cx="11521440" cy="402336"/>
          </a:xfrm>
          <a:prstGeom prst="rect">
            <a:avLst/>
          </a:prstGeom>
          <a:solidFill>
            <a:srgbClr val="13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2816352"/>
            <a:ext cx="64008" cy="402336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2834640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BED1"/>
                </a:solidFill>
              </a:rPr>
              <a:t>Embeddings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28346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FFB3"/>
                </a:solidFill>
              </a:rPr>
              <a:t>all-MiniLM-L6-v2 (CUDA GPU)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2834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ED1"/>
                </a:solidFill>
              </a:rPr>
              <a:t>sentence-transformers — Apache 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3236976"/>
            <a:ext cx="11521440" cy="402336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3236976"/>
            <a:ext cx="64008" cy="40233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255264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BED1"/>
                </a:solidFill>
              </a:rPr>
              <a:t>Reranker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88920" y="3255264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6B35"/>
                </a:solidFill>
              </a:rPr>
              <a:t>ms-marco-MiniLM-L-6-v2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3255264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ED1"/>
                </a:solidFill>
              </a:rPr>
              <a:t>cross-encoder — Apache 2.0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3657600"/>
            <a:ext cx="11521440" cy="402336"/>
          </a:xfrm>
          <a:prstGeom prst="rect">
            <a:avLst/>
          </a:prstGeom>
          <a:solidFill>
            <a:srgbClr val="13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" y="3657600"/>
            <a:ext cx="64008" cy="402336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675888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BED1"/>
                </a:solidFill>
              </a:rPr>
              <a:t>Vector Store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8920" y="367588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FFB3"/>
                </a:solidFill>
              </a:rPr>
              <a:t>ChromaDB — 16,524 vectors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367588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ED1"/>
                </a:solidFill>
              </a:rPr>
              <a:t>chroma-core — Apache 2.0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078224"/>
            <a:ext cx="11521440" cy="402336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0040" y="4078224"/>
            <a:ext cx="64008" cy="402336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4096512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BED1"/>
                </a:solidFill>
              </a:rPr>
              <a:t>BM25 Retrieval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88920" y="4096512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D600"/>
                </a:solidFill>
              </a:rPr>
              <a:t>rank-bm25 + BM25Retriever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09651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ED1"/>
                </a:solidFill>
              </a:rPr>
              <a:t>dorianlg — MIT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4498848"/>
            <a:ext cx="11521440" cy="402336"/>
          </a:xfrm>
          <a:prstGeom prst="rect">
            <a:avLst/>
          </a:prstGeom>
          <a:solidFill>
            <a:srgbClr val="13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0040" y="4498848"/>
            <a:ext cx="64008" cy="402336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517136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BED1"/>
                </a:solidFill>
              </a:rPr>
              <a:t>Semantic Cache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88920" y="4517136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D600"/>
                </a:solidFill>
              </a:rPr>
              <a:t>diskcache + cosine similarity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66560" y="4517136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ED1"/>
                </a:solidFill>
              </a:rPr>
              <a:t>grant jenks — Apache 2.0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4919472"/>
            <a:ext cx="11521440" cy="402336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0040" y="4919472"/>
            <a:ext cx="64008" cy="402336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4937760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BED1"/>
                </a:solidFill>
              </a:rPr>
              <a:t>API Framework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88920" y="4937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2D87"/>
                </a:solidFill>
              </a:rPr>
              <a:t>FastAPI + Pydantic v2 + uvicorn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66560" y="49377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ED1"/>
                </a:solidFill>
              </a:rPr>
              <a:t>Sebastián Ramírez — MIT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" y="5340096"/>
            <a:ext cx="11521440" cy="402336"/>
          </a:xfrm>
          <a:prstGeom prst="rect">
            <a:avLst/>
          </a:prstGeom>
          <a:solidFill>
            <a:srgbClr val="13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0040" y="5340096"/>
            <a:ext cx="64008" cy="4023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5358384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BED1"/>
                </a:solidFill>
              </a:rPr>
              <a:t>Dataset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88920" y="5358384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4D8"/>
                </a:solidFill>
              </a:rPr>
              <a:t>Stack Overflow Python Q&amp;A (Kaggle)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358384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ED1"/>
                </a:solidFill>
              </a:rPr>
              <a:t>CC BY-SA 4.0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" y="5760720"/>
            <a:ext cx="11521440" cy="530352"/>
          </a:xfrm>
          <a:prstGeom prst="rect">
            <a:avLst/>
          </a:prstGeom>
          <a:solidFill>
            <a:srgbClr val="042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20040" y="5760720"/>
            <a:ext cx="82296" cy="530352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5797296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FB3"/>
                </a:solidFill>
              </a:rPr>
              <a:t>ZERO paid APIs used. All models run locally or via free HuggingFace downloads. Total cloud cost = $0.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658368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API Design — 6 Production Endpoints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22376"/>
            <a:ext cx="12188952" cy="36576"/>
          </a:xfrm>
          <a:prstGeom prst="rect">
            <a:avLst/>
          </a:prstGeom>
          <a:solidFill>
            <a:srgbClr val="1A2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58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2D87"/>
                </a:solidFill>
              </a:rPr>
              <a:t>Swagger UI at /docs  |  Streaming SSE  |  Semantic cache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B4D8"/>
                </a:solidFill>
              </a:rPr>
              <a:t>8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15568"/>
            <a:ext cx="11521440" cy="877824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115568"/>
            <a:ext cx="82296" cy="877824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261872"/>
            <a:ext cx="804672" cy="292608"/>
          </a:xfrm>
          <a:prstGeom prst="rect">
            <a:avLst/>
          </a:prstGeom>
          <a:solidFill>
            <a:srgbClr val="003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261872"/>
            <a:ext cx="804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FFB3"/>
                </a:solidFill>
              </a:rPr>
              <a:t>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9888" y="1207008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/ask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1207008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ED1"/>
                </a:solidFill>
              </a:rPr>
              <a:t>Full CRAG pipeline — answer, sources, grade, confidence, latency, cache_hit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162763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FFB3"/>
                </a:solidFill>
              </a:rPr>
              <a:t>→  answer · sources · rewritten_query · hallucination_detected · answer_grade · retry_count · latency_ms · cache_hit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048256"/>
            <a:ext cx="11521440" cy="877824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048256"/>
            <a:ext cx="82296" cy="87782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5488" y="2194560"/>
            <a:ext cx="804672" cy="292608"/>
          </a:xfrm>
          <a:prstGeom prst="rect">
            <a:avLst/>
          </a:prstGeom>
          <a:solidFill>
            <a:srgbClr val="002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2194560"/>
            <a:ext cx="804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E5FF"/>
                </a:solidFill>
              </a:rPr>
              <a:t>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2139696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/ask/stream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2139696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ED1"/>
                </a:solidFill>
              </a:rPr>
              <a:t>Token-by-token streaming via Server-Sent 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2560320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E5FF"/>
                </a:solidFill>
              </a:rPr>
              <a:t>→  SSE stream:  data: &lt;token&gt;  data: &lt;token&gt;  ...  data: [DONE]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980944"/>
            <a:ext cx="11521440" cy="877824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2980944"/>
            <a:ext cx="82296" cy="877824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" y="3127248"/>
            <a:ext cx="804672" cy="292608"/>
          </a:xfrm>
          <a:prstGeom prst="rect">
            <a:avLst/>
          </a:prstGeom>
          <a:solidFill>
            <a:srgbClr val="332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3127248"/>
            <a:ext cx="804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D600"/>
                </a:solidFill>
              </a:rPr>
              <a:t>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9888" y="307238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/health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3072384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ED1"/>
                </a:solidFill>
              </a:rPr>
              <a:t>Service health check — model, vectors, uptime, cache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3493008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D600"/>
                </a:solidFill>
              </a:rPr>
              <a:t>→  status · model · embedding_model · vector_store · cached_questions · uptime_seconds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913632"/>
            <a:ext cx="11521440" cy="877824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3913632"/>
            <a:ext cx="82296" cy="877824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75488" y="4059936"/>
            <a:ext cx="804672" cy="292608"/>
          </a:xfrm>
          <a:prstGeom prst="rect">
            <a:avLst/>
          </a:prstGeom>
          <a:solidFill>
            <a:srgbClr val="332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" y="4059936"/>
            <a:ext cx="804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D600"/>
                </a:solidFill>
              </a:rPr>
              <a:t>GET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9888" y="400507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/stats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0" y="4005072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ED1"/>
                </a:solidFill>
              </a:rPr>
              <a:t>Usage statistics — queries, latency, cache rate, top tags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9888" y="4425696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D600"/>
                </a:solidFill>
              </a:rPr>
              <a:t>→  total_queries · cache_hits · avg_latency_ms · cache_hit_rate · top_tags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846320"/>
            <a:ext cx="11521440" cy="877824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" y="4846320"/>
            <a:ext cx="82296" cy="87782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5488" y="4992624"/>
            <a:ext cx="804672" cy="292608"/>
          </a:xfrm>
          <a:prstGeom prst="rect">
            <a:avLst/>
          </a:prstGeom>
          <a:solidFill>
            <a:srgbClr val="331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992624"/>
            <a:ext cx="804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6B35"/>
                </a:solidFill>
              </a:rPr>
              <a:t>POST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89888" y="4937759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/feedback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1960" y="4937759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ED1"/>
                </a:solidFill>
              </a:rPr>
              <a:t>Submit answer rating 1–5 with optional comment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89888" y="5358383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6B35"/>
                </a:solidFill>
              </a:rPr>
              <a:t>→  status: ok  |  Stored for future reranker fine-tuning feedback loop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779007"/>
            <a:ext cx="11521440" cy="877824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0040" y="5779007"/>
            <a:ext cx="82296" cy="877824"/>
          </a:xfrm>
          <a:prstGeom prst="rect">
            <a:avLst/>
          </a:prstGeom>
          <a:solidFill>
            <a:srgbClr val="A8B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75488" y="5925312"/>
            <a:ext cx="804672" cy="292608"/>
          </a:xfrm>
          <a:prstGeom prst="rect">
            <a:avLst/>
          </a:prstGeom>
          <a:solidFill>
            <a:srgbClr val="21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5488" y="5925312"/>
            <a:ext cx="804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A8BED1"/>
                </a:solidFill>
              </a:rPr>
              <a:t>GET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89888" y="5870447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/history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51960" y="5870447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ED1"/>
                </a:solidFill>
              </a:rPr>
              <a:t>Recent query history with latency and cache flags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89888" y="6291071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8BED1"/>
                </a:solidFill>
              </a:rPr>
              <a:t>→  history list: question · answer_snippet · latency_ms · cache_hit · timestamp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658368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Test Results — 8 / 8 Passing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22376"/>
            <a:ext cx="12188952" cy="36576"/>
          </a:xfrm>
          <a:prstGeom prst="rect">
            <a:avLst/>
          </a:prstGeom>
          <a:solidFill>
            <a:srgbClr val="1A2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58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FFB3"/>
                </a:solidFill>
              </a:rPr>
              <a:t>Avg latency ~11s  |  Confidence 0.86–0.93  |  Zero hallucinations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B4D8"/>
                </a:solidFill>
              </a:rPr>
              <a:t>9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15568"/>
            <a:ext cx="11521440" cy="420624"/>
          </a:xfrm>
          <a:prstGeom prst="rect">
            <a:avLst/>
          </a:prstGeom>
          <a:solidFill>
            <a:srgbClr val="1E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13385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133856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133856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1133856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CONFIDENCE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1133856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STATUS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554480"/>
            <a:ext cx="11521440" cy="512064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157276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5FF"/>
                </a:solidFill>
              </a:rPr>
              <a:t>Q1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572768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How do I read a CSV file in Python using pandas?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572768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600"/>
                </a:solidFill>
              </a:rPr>
              <a:t>11.2s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1572768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FFB3"/>
                </a:solidFill>
              </a:rPr>
              <a:t>0.89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899648" y="1609344"/>
            <a:ext cx="841248" cy="347472"/>
          </a:xfrm>
          <a:prstGeom prst="rect">
            <a:avLst/>
          </a:prstGeom>
          <a:solidFill>
            <a:srgbClr val="023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899648" y="1609344"/>
            <a:ext cx="45720" cy="347472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45368" y="1609344"/>
            <a:ext cx="795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FFB3"/>
                </a:solidFill>
              </a:rPr>
              <a:t>PASS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084831"/>
            <a:ext cx="11521440" cy="512064"/>
          </a:xfrm>
          <a:prstGeom prst="rect">
            <a:avLst/>
          </a:prstGeom>
          <a:solidFill>
            <a:srgbClr val="13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1031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5FF"/>
                </a:solidFill>
              </a:rPr>
              <a:t>Q2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10312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What is the difference between a list and a tuple in Python?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103120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600"/>
                </a:solidFill>
              </a:rPr>
              <a:t>11.4s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210312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FFB3"/>
                </a:solidFill>
              </a:rPr>
              <a:t>0.91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899648" y="2139696"/>
            <a:ext cx="841248" cy="347472"/>
          </a:xfrm>
          <a:prstGeom prst="rect">
            <a:avLst/>
          </a:prstGeom>
          <a:solidFill>
            <a:srgbClr val="023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899648" y="2139696"/>
            <a:ext cx="45720" cy="347472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45368" y="2139696"/>
            <a:ext cx="795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FFB3"/>
                </a:solidFill>
              </a:rPr>
              <a:t>PASS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615184"/>
            <a:ext cx="11521440" cy="512064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26334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5FF"/>
                </a:solidFill>
              </a:rPr>
              <a:t>Q3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2633472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How to handle exceptions in Python with try except?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2633472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600"/>
                </a:solidFill>
              </a:rPr>
              <a:t>10.9s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4040" y="2633472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FFB3"/>
                </a:solidFill>
              </a:rPr>
              <a:t>0.88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899648" y="2670048"/>
            <a:ext cx="841248" cy="347472"/>
          </a:xfrm>
          <a:prstGeom prst="rect">
            <a:avLst/>
          </a:prstGeom>
          <a:solidFill>
            <a:srgbClr val="023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99648" y="2670048"/>
            <a:ext cx="45720" cy="347472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945368" y="2670048"/>
            <a:ext cx="795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FFB3"/>
                </a:solidFill>
              </a:rPr>
              <a:t>PASS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3145535"/>
            <a:ext cx="11521440" cy="512064"/>
          </a:xfrm>
          <a:prstGeom prst="rect">
            <a:avLst/>
          </a:prstGeom>
          <a:solidFill>
            <a:srgbClr val="13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3163824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5FF"/>
                </a:solidFill>
              </a:rPr>
              <a:t>Q4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3163824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How do I use decorators in Python?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3163824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600"/>
                </a:solidFill>
              </a:rPr>
              <a:t>11.6s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64040" y="3163824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FFB3"/>
                </a:solidFill>
              </a:rPr>
              <a:t>0.92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899648" y="3200400"/>
            <a:ext cx="841248" cy="347472"/>
          </a:xfrm>
          <a:prstGeom prst="rect">
            <a:avLst/>
          </a:prstGeom>
          <a:solidFill>
            <a:srgbClr val="023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899648" y="3200400"/>
            <a:ext cx="45720" cy="347472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45368" y="3200400"/>
            <a:ext cx="795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FFB3"/>
                </a:solidFill>
              </a:rPr>
              <a:t>PASS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3675887"/>
            <a:ext cx="11521440" cy="512064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3694176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5FF"/>
                </a:solidFill>
              </a:rPr>
              <a:t>Q5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3694176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What is the difference between deepcopy and shallow copy?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3694176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600"/>
                </a:solidFill>
              </a:rPr>
              <a:t>12.5s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64040" y="3694176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FFB3"/>
                </a:solidFill>
              </a:rPr>
              <a:t>0.93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899648" y="3730752"/>
            <a:ext cx="841248" cy="347472"/>
          </a:xfrm>
          <a:prstGeom prst="rect">
            <a:avLst/>
          </a:prstGeom>
          <a:solidFill>
            <a:srgbClr val="023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899648" y="3730752"/>
            <a:ext cx="45720" cy="347472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945368" y="3730752"/>
            <a:ext cx="795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FFB3"/>
                </a:solidFill>
              </a:rPr>
              <a:t>PASS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4206240"/>
            <a:ext cx="11521440" cy="512064"/>
          </a:xfrm>
          <a:prstGeom prst="rect">
            <a:avLst/>
          </a:prstGeom>
          <a:solidFill>
            <a:srgbClr val="13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480" y="422452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5FF"/>
                </a:solidFill>
              </a:rPr>
              <a:t>Q6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4224528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How to sort a dictionary by value in Python?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4224528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600"/>
                </a:solidFill>
              </a:rPr>
              <a:t>10.4s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64040" y="4224528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FFB3"/>
                </a:solidFill>
              </a:rPr>
              <a:t>0.86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899648" y="4261104"/>
            <a:ext cx="841248" cy="347472"/>
          </a:xfrm>
          <a:prstGeom prst="rect">
            <a:avLst/>
          </a:prstGeom>
          <a:solidFill>
            <a:srgbClr val="023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899648" y="4261104"/>
            <a:ext cx="45720" cy="347472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945368" y="4261104"/>
            <a:ext cx="795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FFB3"/>
                </a:solidFill>
              </a:rPr>
              <a:t>PASS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" y="4736592"/>
            <a:ext cx="11521440" cy="512064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1480" y="4754879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5FF"/>
                </a:solidFill>
              </a:rPr>
              <a:t>Q7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" y="4754879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How do I use list comprehensions in Python?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4754879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600"/>
                </a:solidFill>
              </a:rPr>
              <a:t>10.7s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64040" y="4754879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FFB3"/>
                </a:solidFill>
              </a:rPr>
              <a:t>0.88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899648" y="4791455"/>
            <a:ext cx="841248" cy="347472"/>
          </a:xfrm>
          <a:prstGeom prst="rect">
            <a:avLst/>
          </a:prstGeom>
          <a:solidFill>
            <a:srgbClr val="023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899648" y="4791455"/>
            <a:ext cx="45720" cy="347472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945368" y="4791455"/>
            <a:ext cx="795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FFB3"/>
                </a:solidFill>
              </a:rPr>
              <a:t>PASS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5266944"/>
            <a:ext cx="11521440" cy="512064"/>
          </a:xfrm>
          <a:prstGeom prst="rect">
            <a:avLst/>
          </a:prstGeom>
          <a:solidFill>
            <a:srgbClr val="13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1480" y="528523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5FF"/>
                </a:solidFill>
              </a:rPr>
              <a:t>Q8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5840" y="5285231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How to connect to a SQLite database in Python?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38160" y="5285231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600"/>
                </a:solidFill>
              </a:rPr>
              <a:t>11.3s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64040" y="5285231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FFB3"/>
                </a:solidFill>
              </a:rPr>
              <a:t>0.90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899648" y="5321807"/>
            <a:ext cx="841248" cy="347472"/>
          </a:xfrm>
          <a:prstGeom prst="rect">
            <a:avLst/>
          </a:prstGeom>
          <a:solidFill>
            <a:srgbClr val="023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899648" y="5321807"/>
            <a:ext cx="45720" cy="347472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945368" y="5321807"/>
            <a:ext cx="795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FFB3"/>
                </a:solidFill>
              </a:rPr>
              <a:t>PASS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0040" y="5870448"/>
            <a:ext cx="11521440" cy="493776"/>
          </a:xfrm>
          <a:prstGeom prst="rect">
            <a:avLst/>
          </a:prstGeom>
          <a:solidFill>
            <a:srgbClr val="041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20040" y="5870448"/>
            <a:ext cx="82296" cy="493776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2920" y="5907024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FFB3"/>
                </a:solidFill>
              </a:rPr>
              <a:t>Hybrid retrieved  ·  Cross-encoder reranked  ·  Cosine graded  ·  Stack Overflow sources cited  ·  Semantic cache ready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BD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658368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Scaling, Cost Reduction &amp; Future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22376"/>
            <a:ext cx="12188952" cy="36576"/>
          </a:xfrm>
          <a:prstGeom prst="rect">
            <a:avLst/>
          </a:prstGeom>
          <a:solidFill>
            <a:srgbClr val="1A2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58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6FFF"/>
                </a:solidFill>
              </a:rPr>
              <a:t>Path from local prototype to 100+ concurrent 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B4D8"/>
                </a:solidFill>
              </a:rPr>
              <a:t>10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15568"/>
            <a:ext cx="5623560" cy="10058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115568"/>
            <a:ext cx="82296" cy="100584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225295"/>
            <a:ext cx="1417320" cy="274320"/>
          </a:xfrm>
          <a:prstGeom prst="rect">
            <a:avLst/>
          </a:prstGeom>
          <a:solidFill>
            <a:srgbClr val="002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225295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0E5FF"/>
                </a:solidFill>
              </a:rPr>
              <a:t>Current — 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0700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</a:rPr>
              <a:t>Async FastAPI + Workers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591056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ED1"/>
                </a:solidFill>
              </a:rPr>
              <a:t>All endpoints async. Add gunicorn + 4 uvicorn workers = 4× throughput, zero code change.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231136"/>
            <a:ext cx="5623560" cy="10058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2231136"/>
            <a:ext cx="82296" cy="1005840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2340864"/>
            <a:ext cx="1417320" cy="274320"/>
          </a:xfrm>
          <a:prstGeom prst="rect">
            <a:avLst/>
          </a:prstGeom>
          <a:solidFill>
            <a:srgbClr val="002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2340864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0FFB3"/>
                </a:solidFill>
              </a:rPr>
              <a:t>Easy win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322576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FB3"/>
                </a:solidFill>
              </a:rPr>
              <a:t>Redis Cache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706624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ED1"/>
                </a:solidFill>
              </a:rPr>
              <a:t>Replace DiskCache with Redis. Shared across pods. 30% queries at 0ms, $0 LLM cost.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346704"/>
            <a:ext cx="5623560" cy="10058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346704"/>
            <a:ext cx="82296" cy="100584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34840" y="3456432"/>
            <a:ext cx="1417320" cy="274320"/>
          </a:xfrm>
          <a:prstGeom prst="rect">
            <a:avLst/>
          </a:prstGeom>
          <a:solidFill>
            <a:srgbClr val="2A2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345643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D600"/>
                </a:solidFill>
              </a:rPr>
              <a:t>Scale 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438144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600"/>
                </a:solidFill>
              </a:rPr>
              <a:t>Pinecone / Weaviate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822191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ED1"/>
                </a:solidFill>
              </a:rPr>
              <a:t>Replace local ChromaDB with managed vector DB. Auto-scales, no single-node limit.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462272"/>
            <a:ext cx="5623560" cy="10058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4462272"/>
            <a:ext cx="82296" cy="10058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4572000"/>
            <a:ext cx="1417320" cy="274320"/>
          </a:xfrm>
          <a:prstGeom prst="rect">
            <a:avLst/>
          </a:prstGeom>
          <a:solidFill>
            <a:srgbClr val="2A1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457200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6B35"/>
                </a:solidFill>
              </a:rPr>
              <a:t>High load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5371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</a:rPr>
              <a:t>vLLM / TGI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937760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ED1"/>
                </a:solidFill>
              </a:rPr>
              <a:t>Continuous batching. 5-10× LLM throughput over Ollama. Replace with one env var.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577840"/>
            <a:ext cx="5623560" cy="10058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5577840"/>
            <a:ext cx="82296" cy="1005840"/>
          </a:xfrm>
          <a:prstGeom prst="rect">
            <a:avLst/>
          </a:prstGeom>
          <a:solidFill>
            <a:srgbClr val="BD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34840" y="5687568"/>
            <a:ext cx="1417320" cy="274320"/>
          </a:xfrm>
          <a:prstGeom prst="rect">
            <a:avLst/>
          </a:prstGeom>
          <a:solidFill>
            <a:srgbClr val="1F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5687568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D6FFF"/>
                </a:solidFill>
              </a:rPr>
              <a:t>Enterprise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669279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D6FFF"/>
                </a:solidFill>
              </a:rPr>
              <a:t>Kubernetes HPA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053327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ED1"/>
                </a:solidFill>
              </a:rPr>
              <a:t>Stateless FastAPI pods behind LB. Each shares Redis + Pinecone. Scale on RPS.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1115568"/>
            <a:ext cx="5623560" cy="10058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63640" y="1115568"/>
            <a:ext cx="82296" cy="1005840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378440" y="1225295"/>
            <a:ext cx="1417320" cy="274320"/>
          </a:xfrm>
          <a:prstGeom prst="rect">
            <a:avLst/>
          </a:prstGeom>
          <a:solidFill>
            <a:srgbClr val="2A07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78440" y="1225295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2D87"/>
                </a:solidFill>
              </a:rPr>
              <a:t>Cost cut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120700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2D87"/>
                </a:solidFill>
              </a:rPr>
              <a:t>Quantized GGUF 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1591056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ED1"/>
                </a:solidFill>
              </a:rPr>
              <a:t>gemma2:2b Q4_K_M = 1.5GB, 3× faster. Phi-3-mini for even lower memory.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2231136"/>
            <a:ext cx="5623560" cy="10058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63640" y="2231136"/>
            <a:ext cx="82296" cy="100584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378440" y="2340864"/>
            <a:ext cx="1417320" cy="274320"/>
          </a:xfrm>
          <a:prstGeom prst="rect">
            <a:avLst/>
          </a:prstGeom>
          <a:solidFill>
            <a:srgbClr val="002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378440" y="2340864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0E5FF"/>
                </a:solidFill>
              </a:rPr>
              <a:t>Already done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2322576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</a:rPr>
              <a:t>Skip Multi-Query Pass 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2706624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ED1"/>
                </a:solidFill>
              </a:rPr>
              <a:t>2 LLM calls saved on ~67% of all queries. Biggest single optimization.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3346704"/>
            <a:ext cx="5623560" cy="10058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3346704"/>
            <a:ext cx="82296" cy="1005840"/>
          </a:xfrm>
          <a:prstGeom prst="rect">
            <a:avLst/>
          </a:prstGeom>
          <a:solidFill>
            <a:srgbClr val="00F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378440" y="3456432"/>
            <a:ext cx="1417320" cy="274320"/>
          </a:xfrm>
          <a:prstGeom prst="rect">
            <a:avLst/>
          </a:prstGeom>
          <a:solidFill>
            <a:srgbClr val="002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378440" y="345643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0FFB3"/>
                </a:solidFill>
              </a:rPr>
              <a:t>Future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3438144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FB3"/>
                </a:solidFill>
              </a:rPr>
              <a:t>Multi-language RAG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3822191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ED1"/>
                </a:solidFill>
              </a:rPr>
              <a:t>JS, Go, Rust collections with language-tagged ChromaDB namespaces.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4462272"/>
            <a:ext cx="5623560" cy="10058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63640" y="4462272"/>
            <a:ext cx="82296" cy="100584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378440" y="4572000"/>
            <a:ext cx="1417320" cy="274320"/>
          </a:xfrm>
          <a:prstGeom prst="rect">
            <a:avLst/>
          </a:prstGeom>
          <a:solidFill>
            <a:srgbClr val="2A2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378440" y="457200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D600"/>
                </a:solidFill>
              </a:rPr>
              <a:t>Future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46520" y="455371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600"/>
                </a:solidFill>
              </a:rPr>
              <a:t>Feedback Fine-tuning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6520" y="4937760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ED1"/>
                </a:solidFill>
              </a:rPr>
              <a:t>Use /feedback ratings to fine-tune ms-marco reranker on domain data.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5577840"/>
            <a:ext cx="5623560" cy="10058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63640" y="5577840"/>
            <a:ext cx="82296" cy="10058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378440" y="5687568"/>
            <a:ext cx="1417320" cy="274320"/>
          </a:xfrm>
          <a:prstGeom prst="rect">
            <a:avLst/>
          </a:prstGeom>
          <a:solidFill>
            <a:srgbClr val="2A1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378440" y="5687568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6B35"/>
                </a:solidFill>
              </a:rPr>
              <a:t>Future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6520" y="5669279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</a:rPr>
              <a:t>GraphRAG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6053327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ED1"/>
                </a:solidFill>
              </a:rPr>
              <a:t>Link SO questions via shared tags. Richer cross-concept retrieval.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