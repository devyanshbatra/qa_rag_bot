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050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0E0EF"/>
                </a:solidFill>
              </a:rPr>
              <a:t>Analytics Vidhya — AI Engineer Assessment (Round 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</a:rPr>
              <a:t>Python Q&amp;A 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14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B4D8"/>
                </a:solidFill>
              </a:rPr>
              <a:t>CRAG + Self-RAG  |  LangGraph  |  Hybrid Retrieval  |  gemma2:2b (Ollama)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200400"/>
            <a:ext cx="1737360" cy="347472"/>
          </a:xfrm>
          <a:prstGeom prst="rect">
            <a:avLst/>
          </a:prstGeom>
          <a:solidFill>
            <a:srgbClr val="08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20040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</a:rPr>
              <a:t>LangGraph</a:t>
            </a:r>
          </a:p>
        </p:txBody>
      </p:sp>
      <p:sp>
        <p:nvSpPr>
          <p:cNvPr id="9" name="Rectangle 8"/>
          <p:cNvSpPr/>
          <p:nvPr/>
        </p:nvSpPr>
        <p:spPr>
          <a:xfrm>
            <a:off x="2377440" y="3200400"/>
            <a:ext cx="1737360" cy="347472"/>
          </a:xfrm>
          <a:prstGeom prst="rect">
            <a:avLst/>
          </a:prstGeom>
          <a:solidFill>
            <a:srgbClr val="08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77440" y="320040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D68A"/>
                </a:solidFill>
              </a:rPr>
              <a:t>ChromaDB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3200400"/>
            <a:ext cx="1737360" cy="347472"/>
          </a:xfrm>
          <a:prstGeom prst="rect">
            <a:avLst/>
          </a:prstGeom>
          <a:solidFill>
            <a:srgbClr val="08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320040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166"/>
                </a:solidFill>
              </a:rPr>
              <a:t>FastAPI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3200400"/>
            <a:ext cx="1737360" cy="347472"/>
          </a:xfrm>
          <a:prstGeom prst="rect">
            <a:avLst/>
          </a:prstGeom>
          <a:solidFill>
            <a:srgbClr val="08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320040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6B35"/>
                </a:solidFill>
              </a:rPr>
              <a:t>gemma2:2b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3200400"/>
            <a:ext cx="1737360" cy="347472"/>
          </a:xfrm>
          <a:prstGeom prst="rect">
            <a:avLst/>
          </a:prstGeom>
          <a:solidFill>
            <a:srgbClr val="08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320040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07AFF"/>
                </a:solidFill>
              </a:rPr>
              <a:t>Stack Overflow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26364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Devyansh Batra  |  devyanshbatra070@gmail.com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62636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CD6E0"/>
                </a:solidFill>
              </a:rPr>
              <a:t>June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0E0EF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We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0E0EF"/>
                </a:solidFill>
              </a:rPr>
              <a:t>End-to-end AI Q&amp;A system on Stack Overflow Python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0E0EF"/>
                </a:solidFill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5486400" cy="5349240"/>
          </a:xfrm>
          <a:prstGeom prst="rect">
            <a:avLst/>
          </a:prstGeom>
          <a:solidFill>
            <a:srgbClr val="0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7043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B35"/>
                </a:solidFill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2763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•  Developers waste hours searching Stack Overflow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48256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•  Simple keyword search misses user intent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6888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•  No quality check on retrieved documents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89504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•  Generic LLMs hallucinate on code specifics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1012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•  No source traceability or citations in answers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097280"/>
            <a:ext cx="5715000" cy="5349240"/>
          </a:xfrm>
          <a:prstGeom prst="rect">
            <a:avLst/>
          </a:prstGeom>
          <a:solidFill>
            <a:srgbClr val="0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17043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D68A"/>
                </a:solidFill>
              </a:rPr>
              <a:t>Our Solution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162763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✓  CRAG + Self-RAG for verified, grounded answers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048256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✓  Hybrid BM25 + Semantic MMR retrieval pipeline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46888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✓  Cross-encoder reranking: top-10 docs to top-3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889504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✓  Cosine similarity hallucination guard (no LLM)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331012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✓  Every answer cites Stack Overflow sources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73075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✓  FastAPI with 6 endpoints + semantic cache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4151376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✓  16,524 chunks from 5,000 high-quality Q&amp;A pairs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0E0EF"/>
                </a:solidFill>
              </a:rPr>
              <a:t>LangGraph CRAG + Self-RAG pipeline  —  only 2 LLM calls on happy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0E0EF"/>
                </a:solidFill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920240"/>
            <a:ext cx="1691640" cy="10241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1956816"/>
            <a:ext cx="16916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User
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2240280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90E0EF"/>
                </a:solidFill>
              </a:rPr>
              <a:t>-&gt;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1572768" y="1920240"/>
            <a:ext cx="1691640" cy="1024128"/>
          </a:xfrm>
          <a:prstGeom prst="rect">
            <a:avLst/>
          </a:prstGeom>
          <a:solidFill>
            <a:srgbClr val="027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72768" y="1956816"/>
            <a:ext cx="16916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Query
Rewrite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64408" y="2240280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90E0EF"/>
                </a:solidFill>
              </a:rPr>
              <a:t>-&gt;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16936" y="1920240"/>
            <a:ext cx="1691640" cy="1024128"/>
          </a:xfrm>
          <a:prstGeom prst="rect">
            <a:avLst/>
          </a:prstGeom>
          <a:solidFill>
            <a:srgbClr val="027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16936" y="1956816"/>
            <a:ext cx="16916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Hybrid
Retrieval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240280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90E0EF"/>
                </a:solidFill>
              </a:rPr>
              <a:t>-&gt;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61104" y="1920240"/>
            <a:ext cx="1691640" cy="1024128"/>
          </a:xfrm>
          <a:prstGeom prst="rect">
            <a:avLst/>
          </a:prstGeom>
          <a:solidFill>
            <a:srgbClr val="01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61104" y="1956816"/>
            <a:ext cx="16916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Rerank
(Cross-Enc)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52744" y="2240280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90E0EF"/>
                </a:solidFill>
              </a:rPr>
              <a:t>-&gt;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05272" y="1920240"/>
            <a:ext cx="1691640" cy="1024128"/>
          </a:xfrm>
          <a:prstGeom prst="rect">
            <a:avLst/>
          </a:prstGeom>
          <a:solidFill>
            <a:srgbClr val="01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05272" y="1956816"/>
            <a:ext cx="16916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Doc
Grading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96912" y="2240280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90E0EF"/>
                </a:solidFill>
              </a:rPr>
              <a:t>-&gt;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49440" y="1920240"/>
            <a:ext cx="1691640" cy="1024128"/>
          </a:xfrm>
          <a:prstGeom prst="rect">
            <a:avLst/>
          </a:prstGeom>
          <a:solidFill>
            <a:srgbClr val="06D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0" y="1956816"/>
            <a:ext cx="16916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Generate
Answer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2240280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90E0EF"/>
                </a:solidFill>
              </a:rPr>
              <a:t>-&gt;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93608" y="1920240"/>
            <a:ext cx="1691640" cy="10241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93608" y="1956816"/>
            <a:ext cx="16916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Answer
Grading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85248" y="2240280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90E0EF"/>
                </a:solidFill>
              </a:rPr>
              <a:t>-&gt;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37776" y="1920240"/>
            <a:ext cx="1691640" cy="10241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37776" y="1956816"/>
            <a:ext cx="16916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FastAPI
Response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8600" y="301752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0E0EF"/>
                </a:solidFill>
              </a:rPr>
              <a:t>Input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77924" y="301752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0E0EF"/>
                </a:solidFill>
              </a:rPr>
              <a:t>LLM #1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27248" y="301752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0E0EF"/>
                </a:solidFill>
              </a:rPr>
              <a:t>BM25+MMR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6572" y="301752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0E0EF"/>
                </a:solidFill>
              </a:rPr>
              <a:t>ms-marco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25896" y="301752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0E0EF"/>
                </a:solidFill>
              </a:rPr>
              <a:t>Cosine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75220" y="301752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0E0EF"/>
                </a:solidFill>
              </a:rPr>
              <a:t>LLM #2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24544" y="301752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0E0EF"/>
                </a:solidFill>
              </a:rPr>
              <a:t>Cosine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73867" y="301752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0E0EF"/>
                </a:solidFill>
              </a:rPr>
              <a:t>Cache+JSON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8600" y="3474720"/>
            <a:ext cx="10195560" cy="45720"/>
          </a:xfrm>
          <a:prstGeom prst="rect">
            <a:avLst/>
          </a:prstGeom>
          <a:solidFill>
            <a:srgbClr val="33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00400" y="356616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F6B35"/>
                </a:solidFill>
              </a:rPr>
              <a:t>Retry loop (max 2x): rewrite query + activate Multi-Query + HyDE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05272" y="4069080"/>
            <a:ext cx="1691640" cy="658368"/>
          </a:xfrm>
          <a:prstGeom prst="rect">
            <a:avLst/>
          </a:prstGeom>
          <a:solidFill>
            <a:srgbClr val="302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05272" y="4114800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D166"/>
                </a:solidFill>
              </a:rPr>
              <a:t>Fallback
Retrieval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89120" y="4160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D6E0"/>
                </a:solidFill>
              </a:rPr>
              <a:t>no docs -&gt;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93608" y="4069080"/>
            <a:ext cx="2286000" cy="658368"/>
          </a:xfrm>
          <a:prstGeom prst="rect">
            <a:avLst/>
          </a:prstGeom>
          <a:solidFill>
            <a:srgbClr val="002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21040" y="4114800"/>
            <a:ext cx="2240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6D68A"/>
                </a:solidFill>
              </a:rPr>
              <a:t>Semantic Cache
(diskcache+cosine)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0" y="416052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D6E0"/>
                </a:solidFill>
              </a:rPr>
              <a:t>cache hit -&gt;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" y="507492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FFD166"/>
                </a:solidFill>
              </a:rPr>
              <a:t>Multi-Query + HyDE only fire on retry — saves 2 LLM calls on every first-attempt query (majority of traffic)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CRAG vs Simple RAG — What's Different?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0E0EF"/>
                </a:solidFill>
              </a:rPr>
              <a:t>10 features absent from naive RAG that we implemented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0E0EF"/>
                </a:solidFill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15568"/>
            <a:ext cx="3566160" cy="438912"/>
          </a:xfrm>
          <a:prstGeom prst="rect">
            <a:avLst/>
          </a:prstGeom>
          <a:solidFill>
            <a:srgbClr val="0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977639" y="1115568"/>
            <a:ext cx="3566160" cy="43891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35240" y="1115568"/>
            <a:ext cx="4206240" cy="438912"/>
          </a:xfrm>
          <a:prstGeom prst="rect">
            <a:avLst/>
          </a:prstGeom>
          <a:solidFill>
            <a:srgbClr val="06D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14300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0E0EF"/>
                </a:solidFill>
              </a:rPr>
              <a:t>Feature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114300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Simple RAG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114300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Our CRAG + Self-RAG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572768"/>
            <a:ext cx="3566160" cy="420624"/>
          </a:xfrm>
          <a:prstGeom prst="rect">
            <a:avLst/>
          </a:prstGeom>
          <a:solidFill>
            <a:srgbClr val="0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977639" y="1572768"/>
            <a:ext cx="3566160" cy="420624"/>
          </a:xfrm>
          <a:prstGeom prst="rect">
            <a:avLst/>
          </a:prstGeom>
          <a:solidFill>
            <a:srgbClr val="0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35240" y="1572768"/>
            <a:ext cx="4206240" cy="420624"/>
          </a:xfrm>
          <a:prstGeom prst="rect">
            <a:avLst/>
          </a:prstGeom>
          <a:solidFill>
            <a:srgbClr val="0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159105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D6E0"/>
                </a:solidFill>
              </a:rPr>
              <a:t>Retrieval method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159105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6B35"/>
                </a:solidFill>
              </a:rPr>
              <a:t>Single semantic 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1591056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D68A"/>
                </a:solidFill>
              </a:rPr>
              <a:t>Hybrid BM25 (0.4) + Semantic MMR (0.6)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011680"/>
            <a:ext cx="3566160" cy="420624"/>
          </a:xfrm>
          <a:prstGeom prst="rect">
            <a:avLst/>
          </a:prstGeom>
          <a:solidFill>
            <a:srgbClr val="0C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977639" y="2011680"/>
            <a:ext cx="3566160" cy="420624"/>
          </a:xfrm>
          <a:prstGeom prst="rect">
            <a:avLst/>
          </a:prstGeom>
          <a:solidFill>
            <a:srgbClr val="0C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635240" y="2011680"/>
            <a:ext cx="4206240" cy="420624"/>
          </a:xfrm>
          <a:prstGeom prst="rect">
            <a:avLst/>
          </a:prstGeom>
          <a:solidFill>
            <a:srgbClr val="0C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2029967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D6E0"/>
                </a:solidFill>
              </a:rPr>
              <a:t>Query processing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60" y="2029967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6B35"/>
                </a:solidFill>
              </a:rPr>
              <a:t>Raw question sent as-is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2029967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D68A"/>
                </a:solidFill>
              </a:rPr>
              <a:t>LLM rewrites for specificity every call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2450591"/>
            <a:ext cx="3566160" cy="420624"/>
          </a:xfrm>
          <a:prstGeom prst="rect">
            <a:avLst/>
          </a:prstGeom>
          <a:solidFill>
            <a:srgbClr val="0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977639" y="2450591"/>
            <a:ext cx="3566160" cy="420624"/>
          </a:xfrm>
          <a:prstGeom prst="rect">
            <a:avLst/>
          </a:prstGeom>
          <a:solidFill>
            <a:srgbClr val="0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35240" y="2450591"/>
            <a:ext cx="4206240" cy="420624"/>
          </a:xfrm>
          <a:prstGeom prst="rect">
            <a:avLst/>
          </a:prstGeom>
          <a:solidFill>
            <a:srgbClr val="0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46888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D6E0"/>
                </a:solidFill>
              </a:rPr>
              <a:t>Multi-query expansion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23360" y="246888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6B35"/>
                </a:solidFill>
              </a:rPr>
              <a:t>Not present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246888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D68A"/>
                </a:solidFill>
              </a:rPr>
              <a:t>3 query variants on retry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2889504"/>
            <a:ext cx="3566160" cy="420624"/>
          </a:xfrm>
          <a:prstGeom prst="rect">
            <a:avLst/>
          </a:prstGeom>
          <a:solidFill>
            <a:srgbClr val="0C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977639" y="2889504"/>
            <a:ext cx="3566160" cy="420624"/>
          </a:xfrm>
          <a:prstGeom prst="rect">
            <a:avLst/>
          </a:prstGeom>
          <a:solidFill>
            <a:srgbClr val="0C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635240" y="2889504"/>
            <a:ext cx="4206240" cy="420624"/>
          </a:xfrm>
          <a:prstGeom prst="rect">
            <a:avLst/>
          </a:prstGeom>
          <a:solidFill>
            <a:srgbClr val="0C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2907791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D6E0"/>
                </a:solidFill>
              </a:rPr>
              <a:t>HyDE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23360" y="2907791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6B35"/>
                </a:solidFill>
              </a:rPr>
              <a:t>Not present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960" y="2907791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D68A"/>
                </a:solidFill>
              </a:rPr>
              <a:t>Hypothetical doc embedding on retry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3328415"/>
            <a:ext cx="3566160" cy="420624"/>
          </a:xfrm>
          <a:prstGeom prst="rect">
            <a:avLst/>
          </a:prstGeom>
          <a:solidFill>
            <a:srgbClr val="0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977639" y="3328415"/>
            <a:ext cx="3566160" cy="420624"/>
          </a:xfrm>
          <a:prstGeom prst="rect">
            <a:avLst/>
          </a:prstGeom>
          <a:solidFill>
            <a:srgbClr val="0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635240" y="3328415"/>
            <a:ext cx="4206240" cy="420624"/>
          </a:xfrm>
          <a:prstGeom prst="rect">
            <a:avLst/>
          </a:prstGeom>
          <a:solidFill>
            <a:srgbClr val="0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3346704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D6E0"/>
                </a:solidFill>
              </a:rPr>
              <a:t>Reranking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23360" y="3346704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6B35"/>
                </a:solidFill>
              </a:rPr>
              <a:t>Not present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80960" y="3346704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D68A"/>
                </a:solidFill>
              </a:rPr>
              <a:t>Cross-encoder ms-marco reranker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3767328"/>
            <a:ext cx="3566160" cy="420624"/>
          </a:xfrm>
          <a:prstGeom prst="rect">
            <a:avLst/>
          </a:prstGeom>
          <a:solidFill>
            <a:srgbClr val="0C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977639" y="3767328"/>
            <a:ext cx="3566160" cy="420624"/>
          </a:xfrm>
          <a:prstGeom prst="rect">
            <a:avLst/>
          </a:prstGeom>
          <a:solidFill>
            <a:srgbClr val="0C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635240" y="3767328"/>
            <a:ext cx="4206240" cy="420624"/>
          </a:xfrm>
          <a:prstGeom prst="rect">
            <a:avLst/>
          </a:prstGeom>
          <a:solidFill>
            <a:srgbClr val="0C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3785615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D6E0"/>
                </a:solidFill>
              </a:rPr>
              <a:t>Document quality check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023360" y="3785615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6B35"/>
                </a:solidFill>
              </a:rPr>
              <a:t>Blind — uses all retrieved docs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80960" y="3785615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D68A"/>
                </a:solidFill>
              </a:rPr>
              <a:t>Cosine similarity grading threshold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4206240"/>
            <a:ext cx="3566160" cy="420624"/>
          </a:xfrm>
          <a:prstGeom prst="rect">
            <a:avLst/>
          </a:prstGeom>
          <a:solidFill>
            <a:srgbClr val="0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977639" y="4206240"/>
            <a:ext cx="3566160" cy="420624"/>
          </a:xfrm>
          <a:prstGeom prst="rect">
            <a:avLst/>
          </a:prstGeom>
          <a:solidFill>
            <a:srgbClr val="0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635240" y="4206240"/>
            <a:ext cx="4206240" cy="420624"/>
          </a:xfrm>
          <a:prstGeom prst="rect">
            <a:avLst/>
          </a:prstGeom>
          <a:solidFill>
            <a:srgbClr val="0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5760" y="4224528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D6E0"/>
                </a:solidFill>
              </a:rPr>
              <a:t>Hallucination guard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023360" y="4224528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6B35"/>
                </a:solidFill>
              </a:rPr>
              <a:t>None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80960" y="4224528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D68A"/>
                </a:solidFill>
              </a:rPr>
              <a:t>Answer graded vs context cosine sim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0040" y="4645152"/>
            <a:ext cx="3566160" cy="420624"/>
          </a:xfrm>
          <a:prstGeom prst="rect">
            <a:avLst/>
          </a:prstGeom>
          <a:solidFill>
            <a:srgbClr val="0C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977639" y="4645152"/>
            <a:ext cx="3566160" cy="420624"/>
          </a:xfrm>
          <a:prstGeom prst="rect">
            <a:avLst/>
          </a:prstGeom>
          <a:solidFill>
            <a:srgbClr val="0C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635240" y="4645152"/>
            <a:ext cx="4206240" cy="420624"/>
          </a:xfrm>
          <a:prstGeom prst="rect">
            <a:avLst/>
          </a:prstGeom>
          <a:solidFill>
            <a:srgbClr val="0C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5760" y="466344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D6E0"/>
                </a:solidFill>
              </a:rPr>
              <a:t>Retry on bad answer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023360" y="466344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6B35"/>
                </a:solidFill>
              </a:rPr>
              <a:t>Single shot only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80960" y="466344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D68A"/>
                </a:solidFill>
              </a:rPr>
              <a:t>Up to 2 retries with expanded query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0040" y="5084064"/>
            <a:ext cx="3566160" cy="420624"/>
          </a:xfrm>
          <a:prstGeom prst="rect">
            <a:avLst/>
          </a:prstGeom>
          <a:solidFill>
            <a:srgbClr val="0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977639" y="5084064"/>
            <a:ext cx="3566160" cy="420624"/>
          </a:xfrm>
          <a:prstGeom prst="rect">
            <a:avLst/>
          </a:prstGeom>
          <a:solidFill>
            <a:srgbClr val="0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635240" y="5084064"/>
            <a:ext cx="4206240" cy="420624"/>
          </a:xfrm>
          <a:prstGeom prst="rect">
            <a:avLst/>
          </a:prstGeom>
          <a:solidFill>
            <a:srgbClr val="0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65760" y="510235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D6E0"/>
                </a:solidFill>
              </a:rPr>
              <a:t>Semantic cache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023360" y="510235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6B35"/>
                </a:solidFill>
              </a:rPr>
              <a:t>No caching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680960" y="5102352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D68A"/>
                </a:solidFill>
              </a:rPr>
              <a:t>diskcache + cosine similarity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20040" y="5522976"/>
            <a:ext cx="3566160" cy="420624"/>
          </a:xfrm>
          <a:prstGeom prst="rect">
            <a:avLst/>
          </a:prstGeom>
          <a:solidFill>
            <a:srgbClr val="0C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977639" y="5522976"/>
            <a:ext cx="3566160" cy="420624"/>
          </a:xfrm>
          <a:prstGeom prst="rect">
            <a:avLst/>
          </a:prstGeom>
          <a:solidFill>
            <a:srgbClr val="0C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635240" y="5522976"/>
            <a:ext cx="4206240" cy="420624"/>
          </a:xfrm>
          <a:prstGeom prst="rect">
            <a:avLst/>
          </a:prstGeom>
          <a:solidFill>
            <a:srgbClr val="0C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65760" y="5541264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D6E0"/>
                </a:solidFill>
              </a:rPr>
              <a:t>Source citations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023360" y="5541264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6B35"/>
                </a:solidFill>
              </a:rPr>
              <a:t>Often missing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680960" y="5541264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D68A"/>
                </a:solidFill>
              </a:rPr>
              <a:t>Every answer cites SO sources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Latency Optimizations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0E0EF"/>
                </a:solidFill>
              </a:rPr>
              <a:t>~30s naive pipeline  -&gt;  ~11s optimized  (63% reduction)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0E0EF"/>
                </a:solidFill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15568"/>
            <a:ext cx="11521440" cy="475488"/>
          </a:xfrm>
          <a:prstGeom prst="rect">
            <a:avLst/>
          </a:prstGeom>
          <a:solidFill>
            <a:srgbClr val="280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52144"/>
            <a:ext cx="11247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35"/>
                </a:solidFill>
              </a:rPr>
              <a:t>BEFORE:  ~30 seconds  |  6 sequential LLM calls per query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691640"/>
            <a:ext cx="5029200" cy="475488"/>
          </a:xfrm>
          <a:prstGeom prst="rect">
            <a:avLst/>
          </a:prstGeom>
          <a:solidFill>
            <a:srgbClr val="002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28216"/>
            <a:ext cx="4846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D68A"/>
                </a:solidFill>
              </a:rPr>
              <a:t>AFTER:  ~11 seconds  |  2 LLM calls on happy path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377440"/>
            <a:ext cx="3794760" cy="1783080"/>
          </a:xfrm>
          <a:prstGeom prst="rect">
            <a:avLst/>
          </a:prstGeom>
          <a:solidFill>
            <a:srgbClr val="06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2377440"/>
            <a:ext cx="73152" cy="1783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2468880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Skip Multi-Query + HyDE
on first pass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2944368"/>
            <a:ext cx="3520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Saves 2 LLM calls (~6s saved)
Activates only on retry when recall is poor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79" y="2377440"/>
            <a:ext cx="3794760" cy="1783080"/>
          </a:xfrm>
          <a:prstGeom prst="rect">
            <a:avLst/>
          </a:prstGeom>
          <a:solidFill>
            <a:srgbClr val="06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79" y="2377440"/>
            <a:ext cx="73152" cy="1783080"/>
          </a:xfrm>
          <a:prstGeom prst="rect">
            <a:avLst/>
          </a:prstGeom>
          <a:solidFill>
            <a:srgbClr val="06D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62271" y="2468880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8A"/>
                </a:solidFill>
              </a:rPr>
              <a:t>Cosine grading replaces
LLM doc + answer graders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1" y="2944368"/>
            <a:ext cx="3520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Saves 2 more LLM calls (~6s saved)
Fast numpy cosine — sub-100ms vs ~3s each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75319" y="4297680"/>
            <a:ext cx="3794760" cy="1783080"/>
          </a:xfrm>
          <a:prstGeom prst="rect">
            <a:avLst/>
          </a:prstGeom>
          <a:solidFill>
            <a:srgbClr val="06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75319" y="4297680"/>
            <a:ext cx="73152" cy="178308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39911" y="4389120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166"/>
                </a:solidFill>
              </a:rPr>
              <a:t>Semantic cache
(diskcache + cosine)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9911" y="4864608"/>
            <a:ext cx="3520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Similar queries served at 0ms
~30% hit rate = 30% of queries are free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297680"/>
            <a:ext cx="3794760" cy="1783080"/>
          </a:xfrm>
          <a:prstGeom prst="rect">
            <a:avLst/>
          </a:prstGeom>
          <a:solidFill>
            <a:srgbClr val="06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4297680"/>
            <a:ext cx="73152" cy="17830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" y="4389120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</a:rPr>
              <a:t>Singleton model loading
(embeddings, LLM, reranker)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" y="4864608"/>
            <a:ext cx="3520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Load once at startup
Zero reload overhead per request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79" y="6217920"/>
            <a:ext cx="3794760" cy="1783080"/>
          </a:xfrm>
          <a:prstGeom prst="rect">
            <a:avLst/>
          </a:prstGeom>
          <a:solidFill>
            <a:srgbClr val="06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97679" y="6217920"/>
            <a:ext cx="73152" cy="1783080"/>
          </a:xfrm>
          <a:prstGeom prst="rect">
            <a:avLst/>
          </a:prstGeom>
          <a:solidFill>
            <a:srgbClr val="C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62271" y="6309360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7AFF"/>
                </a:solidFill>
              </a:rPr>
              <a:t>Cross-encoder on GPU
(CUDA RTX 3050)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62271" y="6784848"/>
            <a:ext cx="3520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Reranking 10 docs in under 200ms
vs 1-2 seconds on CPU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75319" y="6217920"/>
            <a:ext cx="3794760" cy="1783080"/>
          </a:xfrm>
          <a:prstGeom prst="rect">
            <a:avLst/>
          </a:prstGeom>
          <a:solidFill>
            <a:srgbClr val="06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75319" y="6217920"/>
            <a:ext cx="73152" cy="178308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39911" y="6309360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0E0EF"/>
                </a:solidFill>
              </a:rPr>
              <a:t>Query rewrite first
(narrow the search space)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39911" y="6784848"/>
            <a:ext cx="3520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Better rewritten query = fewer junk chunks
Reranker works on a higher quality pool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Tech Stack &amp; Data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0E0EF"/>
                </a:solidFill>
              </a:rPr>
              <a:t>Production-grade components — all open 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0E0EF"/>
                </a:solidFill>
              </a:rP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15568"/>
            <a:ext cx="8046720" cy="402336"/>
          </a:xfrm>
          <a:prstGeom prst="rect">
            <a:avLst/>
          </a:prstGeom>
          <a:solidFill>
            <a:srgbClr val="0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0E0EF"/>
                </a:solidFill>
              </a:rPr>
              <a:t>Component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7639" y="1143000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0E0EF"/>
                </a:solidFill>
              </a:rPr>
              <a:t>Technology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536192"/>
            <a:ext cx="8046720" cy="402336"/>
          </a:xfrm>
          <a:prstGeom prst="rect">
            <a:avLst/>
          </a:prstGeom>
          <a:solidFill>
            <a:srgbClr val="0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536192"/>
            <a:ext cx="54864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5544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D6E0"/>
                </a:solidFill>
              </a:rPr>
              <a:t>LLM Inference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39" y="155448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4D8"/>
                </a:solidFill>
              </a:rPr>
              <a:t>gemma2:2b via Ollama (local GPU inference)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956816"/>
            <a:ext cx="8046720" cy="402336"/>
          </a:xfrm>
          <a:prstGeom prst="rect">
            <a:avLst/>
          </a:prstGeom>
          <a:solidFill>
            <a:srgbClr val="0C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1956816"/>
            <a:ext cx="54864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975104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D6E0"/>
                </a:solidFill>
              </a:rPr>
              <a:t>Agent Framework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39" y="1975104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4D8"/>
                </a:solidFill>
              </a:rPr>
              <a:t>LangGraph — StateGraph with conditional edges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377440"/>
            <a:ext cx="8046720" cy="402336"/>
          </a:xfrm>
          <a:prstGeom prst="rect">
            <a:avLst/>
          </a:prstGeom>
          <a:solidFill>
            <a:srgbClr val="0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2377440"/>
            <a:ext cx="54864" cy="402336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39572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D6E0"/>
                </a:solidFill>
              </a:rPr>
              <a:t>LLM Orchestration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77639" y="2395728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E0EF"/>
                </a:solidFill>
              </a:rPr>
              <a:t>LangChain chains, prompts, output parsers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798064"/>
            <a:ext cx="8046720" cy="402336"/>
          </a:xfrm>
          <a:prstGeom prst="rect">
            <a:avLst/>
          </a:prstGeom>
          <a:solidFill>
            <a:srgbClr val="0C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2798064"/>
            <a:ext cx="54864" cy="402336"/>
          </a:xfrm>
          <a:prstGeom prst="rect">
            <a:avLst/>
          </a:prstGeom>
          <a:solidFill>
            <a:srgbClr val="06D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81635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D6E0"/>
                </a:solidFill>
              </a:rPr>
              <a:t>Embeddings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77639" y="2816352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D68A"/>
                </a:solidFill>
              </a:rPr>
              <a:t>all-MiniLM-L6-v2  (CUDA, batch_size=256)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218688"/>
            <a:ext cx="8046720" cy="402336"/>
          </a:xfrm>
          <a:prstGeom prst="rect">
            <a:avLst/>
          </a:prstGeom>
          <a:solidFill>
            <a:srgbClr val="0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218688"/>
            <a:ext cx="54864" cy="402336"/>
          </a:xfrm>
          <a:prstGeom prst="rect">
            <a:avLst/>
          </a:prstGeom>
          <a:solidFill>
            <a:srgbClr val="06D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236976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D6E0"/>
                </a:solidFill>
              </a:rPr>
              <a:t>Reranker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77639" y="3236976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D68A"/>
                </a:solidFill>
              </a:rPr>
              <a:t>cross-encoder/ms-marco-MiniLM-L-6-v2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639312"/>
            <a:ext cx="8046720" cy="402336"/>
          </a:xfrm>
          <a:prstGeom prst="rect">
            <a:avLst/>
          </a:prstGeom>
          <a:solidFill>
            <a:srgbClr val="0C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" y="3639312"/>
            <a:ext cx="54864" cy="402336"/>
          </a:xfrm>
          <a:prstGeom prst="rect">
            <a:avLst/>
          </a:prstGeom>
          <a:solidFill>
            <a:srgbClr val="06D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6576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D6E0"/>
                </a:solidFill>
              </a:rPr>
              <a:t>Vector Store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77639" y="365760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D68A"/>
                </a:solidFill>
              </a:rPr>
              <a:t>ChromaDB  —  16,524 chunks persisted to disk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4059936"/>
            <a:ext cx="8046720" cy="402336"/>
          </a:xfrm>
          <a:prstGeom prst="rect">
            <a:avLst/>
          </a:prstGeom>
          <a:solidFill>
            <a:srgbClr val="0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0040" y="4059936"/>
            <a:ext cx="54864" cy="402336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4078224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D6E0"/>
                </a:solidFill>
              </a:rPr>
              <a:t>BM25 Retrieval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77639" y="4078224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D166"/>
                </a:solidFill>
              </a:rPr>
              <a:t>rank-bm25 via BM25Retriever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4480560"/>
            <a:ext cx="8046720" cy="402336"/>
          </a:xfrm>
          <a:prstGeom prst="rect">
            <a:avLst/>
          </a:prstGeom>
          <a:solidFill>
            <a:srgbClr val="0C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20040" y="4480560"/>
            <a:ext cx="54864" cy="402336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449884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D6E0"/>
                </a:solidFill>
              </a:rPr>
              <a:t>Semantic Cache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77639" y="4498848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D166"/>
                </a:solidFill>
              </a:rPr>
              <a:t>diskcache + cosine similarity threshold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4901184"/>
            <a:ext cx="8046720" cy="402336"/>
          </a:xfrm>
          <a:prstGeom prst="rect">
            <a:avLst/>
          </a:prstGeom>
          <a:solidFill>
            <a:srgbClr val="0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20040" y="4901184"/>
            <a:ext cx="54864" cy="40233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491947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D6E0"/>
                </a:solidFill>
              </a:rPr>
              <a:t>API Framework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977639" y="4919472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6B35"/>
                </a:solidFill>
              </a:rPr>
              <a:t>FastAPI + Pydantic v2 + uvicorn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5321808"/>
            <a:ext cx="8046720" cy="402336"/>
          </a:xfrm>
          <a:prstGeom prst="rect">
            <a:avLst/>
          </a:prstGeom>
          <a:solidFill>
            <a:srgbClr val="0C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20040" y="5321808"/>
            <a:ext cx="54864" cy="40233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5340096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D6E0"/>
                </a:solidFill>
              </a:rPr>
              <a:t>Dataset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77639" y="5340096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6B35"/>
                </a:solidFill>
              </a:rPr>
              <a:t>Stack Overflow Python Q&amp;A — Kaggle (50k -&gt; 5k filtered)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732520" y="1115568"/>
            <a:ext cx="3108960" cy="5349240"/>
          </a:xfrm>
          <a:prstGeom prst="rect">
            <a:avLst/>
          </a:prstGeom>
          <a:solidFill>
            <a:srgbClr val="0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823960" y="117043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0E0EF"/>
                </a:solidFill>
              </a:rPr>
              <a:t>Data Pipeline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823960" y="1600200"/>
            <a:ext cx="2834640" cy="493776"/>
          </a:xfrm>
          <a:prstGeom prst="rect">
            <a:avLst/>
          </a:prstGeom>
          <a:solidFill>
            <a:srgbClr val="0A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823960" y="1600200"/>
            <a:ext cx="64008" cy="4937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961120" y="1618488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Kaggle Download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058400" y="2093976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0E0EF"/>
                </a:solidFill>
              </a:rPr>
              <a:t>v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823960" y="2212848"/>
            <a:ext cx="2834640" cy="493776"/>
          </a:xfrm>
          <a:prstGeom prst="rect">
            <a:avLst/>
          </a:prstGeom>
          <a:solidFill>
            <a:srgbClr val="0A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823960" y="2212848"/>
            <a:ext cx="64008" cy="493776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961120" y="2231136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0E0EF"/>
                </a:solidFill>
              </a:rPr>
              <a:t>HTML Cleaning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058400" y="2706624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0E0EF"/>
                </a:solidFill>
              </a:rPr>
              <a:t>v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823960" y="2825496"/>
            <a:ext cx="2834640" cy="493776"/>
          </a:xfrm>
          <a:prstGeom prst="rect">
            <a:avLst/>
          </a:prstGeom>
          <a:solidFill>
            <a:srgbClr val="0A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823960" y="2825496"/>
            <a:ext cx="64008" cy="493776"/>
          </a:xfrm>
          <a:prstGeom prst="rect">
            <a:avLst/>
          </a:prstGeom>
          <a:solidFill>
            <a:srgbClr val="06D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961120" y="2843784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8A"/>
                </a:solidFill>
              </a:rPr>
              <a:t>Filter top Q&amp;A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058400" y="331927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0E0EF"/>
                </a:solidFill>
              </a:rPr>
              <a:t>v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823960" y="3438144"/>
            <a:ext cx="2834640" cy="493776"/>
          </a:xfrm>
          <a:prstGeom prst="rect">
            <a:avLst/>
          </a:prstGeom>
          <a:solidFill>
            <a:srgbClr val="0A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823960" y="3438144"/>
            <a:ext cx="64008" cy="493776"/>
          </a:xfrm>
          <a:prstGeom prst="rect">
            <a:avLst/>
          </a:prstGeom>
          <a:solidFill>
            <a:srgbClr val="06D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961120" y="3456432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8A"/>
                </a:solidFill>
              </a:rPr>
              <a:t>5k pairs -&gt; JSON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058400" y="3931920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0E0EF"/>
                </a:solidFill>
              </a:rPr>
              <a:t>v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823960" y="4050791"/>
            <a:ext cx="2834640" cy="493776"/>
          </a:xfrm>
          <a:prstGeom prst="rect">
            <a:avLst/>
          </a:prstGeom>
          <a:solidFill>
            <a:srgbClr val="0A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823960" y="4050791"/>
            <a:ext cx="64008" cy="493776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961120" y="4069080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166"/>
                </a:solidFill>
              </a:rPr>
              <a:t>Chunk 512 tokens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058400" y="4544568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0E0EF"/>
                </a:solidFill>
              </a:rPr>
              <a:t>v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823960" y="4663440"/>
            <a:ext cx="2834640" cy="493776"/>
          </a:xfrm>
          <a:prstGeom prst="rect">
            <a:avLst/>
          </a:prstGeom>
          <a:solidFill>
            <a:srgbClr val="0A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823960" y="4663440"/>
            <a:ext cx="64008" cy="493776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961120" y="4681728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166"/>
                </a:solidFill>
              </a:rPr>
              <a:t>Embed MiniLM-L6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058400" y="5157216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0E0EF"/>
                </a:solidFill>
              </a:rPr>
              <a:t>v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823960" y="5276088"/>
            <a:ext cx="2834640" cy="493776"/>
          </a:xfrm>
          <a:prstGeom prst="rect">
            <a:avLst/>
          </a:prstGeom>
          <a:solidFill>
            <a:srgbClr val="0A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823960" y="5276088"/>
            <a:ext cx="64008" cy="4937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961120" y="5294376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</a:rPr>
              <a:t>Store ChromaDB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058400" y="5769864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0E0EF"/>
                </a:solidFill>
              </a:rPr>
              <a:t>v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823960" y="5888736"/>
            <a:ext cx="2834640" cy="493776"/>
          </a:xfrm>
          <a:prstGeom prst="rect">
            <a:avLst/>
          </a:prstGeom>
          <a:solidFill>
            <a:srgbClr val="0A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823960" y="5888736"/>
            <a:ext cx="64008" cy="493776"/>
          </a:xfrm>
          <a:prstGeom prst="rect">
            <a:avLst/>
          </a:prstGeom>
          <a:solidFill>
            <a:srgbClr val="06D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961120" y="5907024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8A"/>
                </a:solidFill>
              </a:rPr>
              <a:t>16,524 chunks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API Design — 6 Production Endpoints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0E0EF"/>
                </a:solidFill>
              </a:rPr>
              <a:t>Full Swagger UI at /docs  |  Semantic cache  |  Streaming SSE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0E0EF"/>
                </a:solidFill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11521440" cy="804672"/>
          </a:xfrm>
          <a:prstGeom prst="rect">
            <a:avLst/>
          </a:prstGeom>
          <a:solidFill>
            <a:srgbClr val="0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64008" cy="804672"/>
          </a:xfrm>
          <a:prstGeom prst="rect">
            <a:avLst/>
          </a:prstGeom>
          <a:solidFill>
            <a:srgbClr val="06D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71016"/>
            <a:ext cx="731520" cy="274320"/>
          </a:xfrm>
          <a:prstGeom prst="rect">
            <a:avLst/>
          </a:prstGeom>
          <a:solidFill>
            <a:srgbClr val="06D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7101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POST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234440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/ask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1234440"/>
            <a:ext cx="7680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Full CRAG pipeline — answer + sources + grade + latency + cache_hit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161848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0E0EF"/>
                </a:solidFill>
              </a:rPr>
              <a:t>Returns: answer, sources, rewritten_query, hallucination_detected, answer_grade, retry_count, latency_ms, cache_hit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057400"/>
            <a:ext cx="11521440" cy="804672"/>
          </a:xfrm>
          <a:prstGeom prst="rect">
            <a:avLst/>
          </a:prstGeom>
          <a:solidFill>
            <a:srgbClr val="0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057400"/>
            <a:ext cx="64008" cy="8046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185416"/>
            <a:ext cx="731520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18541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POST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2148840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/ask/stream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7639" y="2148840"/>
            <a:ext cx="7680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Token-by-token streaming via Server-Sent Events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253288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0E0EF"/>
                </a:solidFill>
              </a:rPr>
              <a:t>Returns: SSE stream:  data: &lt;token&gt;  ...  data: [DONE]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971800"/>
            <a:ext cx="11521440" cy="804672"/>
          </a:xfrm>
          <a:prstGeom prst="rect">
            <a:avLst/>
          </a:prstGeom>
          <a:solidFill>
            <a:srgbClr val="0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971800"/>
            <a:ext cx="64008" cy="804672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099816"/>
            <a:ext cx="731520" cy="27432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09981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3063240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/health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77639" y="3063240"/>
            <a:ext cx="7680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Vector store count, model name, uptime, cache size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344728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0E0EF"/>
                </a:solidFill>
              </a:rPr>
              <a:t>Returns: status, model, embedding_model, vector_store, cached_questions, uptime_seconds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3886200"/>
            <a:ext cx="11521440" cy="804672"/>
          </a:xfrm>
          <a:prstGeom prst="rect">
            <a:avLst/>
          </a:prstGeom>
          <a:solidFill>
            <a:srgbClr val="0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" y="3886200"/>
            <a:ext cx="64008" cy="804672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4014215"/>
            <a:ext cx="731520" cy="27432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014215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GET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3977639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/stats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77639" y="3977639"/>
            <a:ext cx="7680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Total queries, avg latency, cache hit rate, top tags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25880" y="436168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0E0EF"/>
                </a:solidFill>
              </a:rPr>
              <a:t>Returns: total_queries, cache_hits, avg_latency_ms, cache_hit_rate, top_tags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4800600"/>
            <a:ext cx="11521440" cy="804672"/>
          </a:xfrm>
          <a:prstGeom prst="rect">
            <a:avLst/>
          </a:prstGeom>
          <a:solidFill>
            <a:srgbClr val="0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20040" y="4800600"/>
            <a:ext cx="64008" cy="80467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4928616"/>
            <a:ext cx="731520" cy="2743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492861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POST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25880" y="4892040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/feedback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77639" y="4892040"/>
            <a:ext cx="7680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Rate answer 1-5 with optional comment for quality loop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25880" y="527608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0E0EF"/>
                </a:solidFill>
              </a:rPr>
              <a:t>Returns: status: ok / recorded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5715000"/>
            <a:ext cx="11521440" cy="804672"/>
          </a:xfrm>
          <a:prstGeom prst="rect">
            <a:avLst/>
          </a:prstGeom>
          <a:solidFill>
            <a:srgbClr val="0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20040" y="5715000"/>
            <a:ext cx="64008" cy="804672"/>
          </a:xfrm>
          <a:prstGeom prst="rect">
            <a:avLst/>
          </a:prstGeom>
          <a:solidFill>
            <a:srgbClr val="CC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" y="5843016"/>
            <a:ext cx="731520" cy="274320"/>
          </a:xfrm>
          <a:prstGeom prst="rect">
            <a:avLst/>
          </a:prstGeom>
          <a:solidFill>
            <a:srgbClr val="CC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584301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GET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25880" y="5806440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/history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77639" y="5806440"/>
            <a:ext cx="7680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Last N queries with latency and cache flags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25880" y="619048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0E0EF"/>
                </a:solidFill>
              </a:rPr>
              <a:t>Returns: history list with question, latency_ms, cache_hit, timestamp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Test Results — 8 / 8 Queries Passing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0E0EF"/>
                </a:solidFill>
              </a:rPr>
              <a:t>Confidence 0.86-0.93  |  Grade: good  |  Zero hallucinations detected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0E0EF"/>
                </a:solidFill>
              </a:rP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15568"/>
            <a:ext cx="11521440" cy="402336"/>
          </a:xfrm>
          <a:prstGeom prst="rect">
            <a:avLst/>
          </a:prstGeom>
          <a:solidFill>
            <a:srgbClr val="0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0E0EF"/>
                </a:solidFill>
              </a:rPr>
              <a:t>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43000"/>
            <a:ext cx="7040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0E0EF"/>
                </a:solidFill>
              </a:rPr>
              <a:t>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114300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0E0EF"/>
                </a:solidFill>
              </a:rPr>
              <a:t>Latency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64040" y="114300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0E0EF"/>
                </a:solidFill>
              </a:rPr>
              <a:t>Confidence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44200" y="114300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0E0EF"/>
                </a:solidFill>
              </a:rPr>
              <a:t>Status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536192"/>
            <a:ext cx="11521440" cy="512064"/>
          </a:xfrm>
          <a:prstGeom prst="rect">
            <a:avLst/>
          </a:prstGeom>
          <a:solidFill>
            <a:srgbClr val="0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55448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0E0EF"/>
                </a:solidFill>
              </a:rPr>
              <a:t>Q1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1554480"/>
            <a:ext cx="7040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How do I read a CSV file in Python using pandas?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155448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D166"/>
                </a:solidFill>
              </a:rPr>
              <a:t>11.2s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4040" y="155448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6D68A"/>
                </a:solidFill>
              </a:rPr>
              <a:t>0.89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771632" y="1591056"/>
            <a:ext cx="960120" cy="347472"/>
          </a:xfrm>
          <a:prstGeom prst="rect">
            <a:avLst/>
          </a:prstGeom>
          <a:solidFill>
            <a:srgbClr val="003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71632" y="1591056"/>
            <a:ext cx="960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D68A"/>
                </a:solidFill>
              </a:rPr>
              <a:t>PASS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066543"/>
            <a:ext cx="11521440" cy="512064"/>
          </a:xfrm>
          <a:prstGeom prst="rect">
            <a:avLst/>
          </a:prstGeom>
          <a:solidFill>
            <a:srgbClr val="0C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2084831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0E0EF"/>
                </a:solidFill>
              </a:rPr>
              <a:t>Q2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2084831"/>
            <a:ext cx="7040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What is the difference between a list and a tuple in Python?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2084831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D166"/>
                </a:solidFill>
              </a:rPr>
              <a:t>11.4s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64040" y="2084831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6D68A"/>
                </a:solidFill>
              </a:rPr>
              <a:t>0.91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771632" y="2121408"/>
            <a:ext cx="960120" cy="347472"/>
          </a:xfrm>
          <a:prstGeom prst="rect">
            <a:avLst/>
          </a:prstGeom>
          <a:solidFill>
            <a:srgbClr val="003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71632" y="2121408"/>
            <a:ext cx="960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D68A"/>
                </a:solidFill>
              </a:rPr>
              <a:t>PASS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2596896"/>
            <a:ext cx="11521440" cy="512064"/>
          </a:xfrm>
          <a:prstGeom prst="rect">
            <a:avLst/>
          </a:prstGeom>
          <a:solidFill>
            <a:srgbClr val="0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615184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0E0EF"/>
                </a:solidFill>
              </a:rPr>
              <a:t>Q3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2615184"/>
            <a:ext cx="7040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How to handle exceptions in Python with try except?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2615184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D166"/>
                </a:solidFill>
              </a:rPr>
              <a:t>10.9s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64040" y="2615184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6D68A"/>
                </a:solidFill>
              </a:rPr>
              <a:t>0.88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771632" y="2651760"/>
            <a:ext cx="960120" cy="347472"/>
          </a:xfrm>
          <a:prstGeom prst="rect">
            <a:avLst/>
          </a:prstGeom>
          <a:solidFill>
            <a:srgbClr val="003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771632" y="2651760"/>
            <a:ext cx="960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D68A"/>
                </a:solidFill>
              </a:rPr>
              <a:t>PASS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3127248"/>
            <a:ext cx="11521440" cy="512064"/>
          </a:xfrm>
          <a:prstGeom prst="rect">
            <a:avLst/>
          </a:prstGeom>
          <a:solidFill>
            <a:srgbClr val="0C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3145535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0E0EF"/>
                </a:solidFill>
              </a:rPr>
              <a:t>Q4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" y="3145535"/>
            <a:ext cx="7040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How do I use decorators in Python?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92440" y="3145535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D166"/>
                </a:solidFill>
              </a:rPr>
              <a:t>11.6s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64040" y="3145535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6D68A"/>
                </a:solidFill>
              </a:rPr>
              <a:t>0.92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771632" y="3182111"/>
            <a:ext cx="960120" cy="347472"/>
          </a:xfrm>
          <a:prstGeom prst="rect">
            <a:avLst/>
          </a:prstGeom>
          <a:solidFill>
            <a:srgbClr val="003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771632" y="3182111"/>
            <a:ext cx="960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D68A"/>
                </a:solidFill>
              </a:rPr>
              <a:t>PASS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3657600"/>
            <a:ext cx="11521440" cy="512064"/>
          </a:xfrm>
          <a:prstGeom prst="rect">
            <a:avLst/>
          </a:prstGeom>
          <a:solidFill>
            <a:srgbClr val="0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675887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0E0EF"/>
                </a:solidFill>
              </a:rPr>
              <a:t>Q5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" y="3675887"/>
            <a:ext cx="7040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What is the difference between deepcopy and shallow copy?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92440" y="3675887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D166"/>
                </a:solidFill>
              </a:rPr>
              <a:t>12.5s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64040" y="3675887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6D68A"/>
                </a:solidFill>
              </a:rPr>
              <a:t>0.93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771632" y="3712463"/>
            <a:ext cx="960120" cy="347472"/>
          </a:xfrm>
          <a:prstGeom prst="rect">
            <a:avLst/>
          </a:prstGeom>
          <a:solidFill>
            <a:srgbClr val="003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771632" y="3712463"/>
            <a:ext cx="960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D68A"/>
                </a:solidFill>
              </a:rPr>
              <a:t>PASS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4187952"/>
            <a:ext cx="11521440" cy="512064"/>
          </a:xfrm>
          <a:prstGeom prst="rect">
            <a:avLst/>
          </a:prstGeom>
          <a:solidFill>
            <a:srgbClr val="0C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42062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0E0EF"/>
                </a:solidFill>
              </a:rPr>
              <a:t>Q6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0120" y="4206240"/>
            <a:ext cx="7040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How to sort a dictionary by value in Python?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92440" y="420624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D166"/>
                </a:solidFill>
              </a:rPr>
              <a:t>10.4s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464040" y="420624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6D68A"/>
                </a:solidFill>
              </a:rPr>
              <a:t>0.86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771632" y="4242816"/>
            <a:ext cx="960120" cy="347472"/>
          </a:xfrm>
          <a:prstGeom prst="rect">
            <a:avLst/>
          </a:prstGeom>
          <a:solidFill>
            <a:srgbClr val="003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771632" y="4242816"/>
            <a:ext cx="960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D68A"/>
                </a:solidFill>
              </a:rPr>
              <a:t>PASS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0040" y="4718303"/>
            <a:ext cx="11521440" cy="512064"/>
          </a:xfrm>
          <a:prstGeom prst="rect">
            <a:avLst/>
          </a:prstGeom>
          <a:solidFill>
            <a:srgbClr val="0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473659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0E0EF"/>
                </a:solidFill>
              </a:rPr>
              <a:t>Q7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0120" y="4736592"/>
            <a:ext cx="7040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How do I use list comprehensions in Python?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092440" y="4736592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D166"/>
                </a:solidFill>
              </a:rPr>
              <a:t>10.7s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464040" y="4736592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6D68A"/>
                </a:solidFill>
              </a:rPr>
              <a:t>0.88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771632" y="4773168"/>
            <a:ext cx="960120" cy="347472"/>
          </a:xfrm>
          <a:prstGeom prst="rect">
            <a:avLst/>
          </a:prstGeom>
          <a:solidFill>
            <a:srgbClr val="003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771632" y="4773168"/>
            <a:ext cx="960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D68A"/>
                </a:solidFill>
              </a:rPr>
              <a:t>PASS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20040" y="5248655"/>
            <a:ext cx="11521440" cy="512064"/>
          </a:xfrm>
          <a:prstGeom prst="rect">
            <a:avLst/>
          </a:prstGeom>
          <a:solidFill>
            <a:srgbClr val="0C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5266944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0E0EF"/>
                </a:solidFill>
              </a:rPr>
              <a:t>Q8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60120" y="5266944"/>
            <a:ext cx="7040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How to connect to a SQLite database in Python?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92440" y="5266944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D166"/>
                </a:solidFill>
              </a:rPr>
              <a:t>11.3s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464040" y="5266944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6D68A"/>
                </a:solidFill>
              </a:rPr>
              <a:t>0.90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771632" y="5303520"/>
            <a:ext cx="960120" cy="347472"/>
          </a:xfrm>
          <a:prstGeom prst="rect">
            <a:avLst/>
          </a:prstGeom>
          <a:solidFill>
            <a:srgbClr val="003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771632" y="5303520"/>
            <a:ext cx="960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D68A"/>
                </a:solidFill>
              </a:rPr>
              <a:t>PASS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20040" y="5925312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90E0EF"/>
                </a:solidFill>
              </a:rPr>
              <a:t>Hybrid retrieval  |  Cross-encoder reranked  |  Cosine graded  |  Stack Overflow cited sources  |  Semantic cache ready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Scaling for 100+ Concurrent Users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0E0EF"/>
                </a:solidFill>
              </a:rPr>
              <a:t>Current bottlenecks and production-ready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0E0EF"/>
                </a:solidFill>
              </a:rPr>
              <a:t>9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15568"/>
            <a:ext cx="3794760" cy="2514600"/>
          </a:xfrm>
          <a:prstGeom prst="rect">
            <a:avLst/>
          </a:prstGeom>
          <a:solidFill>
            <a:srgbClr val="06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82296" cy="25146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14600" y="1207008"/>
            <a:ext cx="1508760" cy="274320"/>
          </a:xfrm>
          <a:prstGeom prst="rect">
            <a:avLst/>
          </a:prstGeom>
          <a:solidFill>
            <a:srgbClr val="12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14600" y="1207008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0B4D8"/>
                </a:solidFill>
              </a:rPr>
              <a:t>Current - ready 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120700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Async FastAPI
+ Gunicorn Workers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1773936"/>
            <a:ext cx="35204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All endpoints async/non-blocking. Add 4 uvicorn workers behind gunicorn = 4x throughput with zero code change.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79" y="1115568"/>
            <a:ext cx="3794760" cy="2514600"/>
          </a:xfrm>
          <a:prstGeom prst="rect">
            <a:avLst/>
          </a:prstGeom>
          <a:solidFill>
            <a:srgbClr val="06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79" y="1115568"/>
            <a:ext cx="82296" cy="2514600"/>
          </a:xfrm>
          <a:prstGeom prst="rect">
            <a:avLst/>
          </a:prstGeom>
          <a:solidFill>
            <a:srgbClr val="06D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92240" y="1207008"/>
            <a:ext cx="1508760" cy="274320"/>
          </a:xfrm>
          <a:prstGeom prst="rect">
            <a:avLst/>
          </a:prstGeom>
          <a:solidFill>
            <a:srgbClr val="12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207008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6D68A"/>
                </a:solidFill>
              </a:rPr>
              <a:t>Easy win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2271" y="120700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8A"/>
                </a:solidFill>
              </a:rPr>
              <a:t>Redis Semantic Cache
(replace DiskCache)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1" y="1773936"/>
            <a:ext cx="35204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Shared cache across all pods. 30% queries at 0ms cost. Plug-in swap from diskcache to redis-py.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75319" y="1115568"/>
            <a:ext cx="3794760" cy="2514600"/>
          </a:xfrm>
          <a:prstGeom prst="rect">
            <a:avLst/>
          </a:prstGeom>
          <a:solidFill>
            <a:srgbClr val="06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75319" y="1115568"/>
            <a:ext cx="82296" cy="251460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469880" y="1207008"/>
            <a:ext cx="1508760" cy="274320"/>
          </a:xfrm>
          <a:prstGeom prst="rect">
            <a:avLst/>
          </a:prstGeom>
          <a:solidFill>
            <a:srgbClr val="12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69880" y="1207008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FFD166"/>
                </a:solidFill>
              </a:rPr>
              <a:t>Scale out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9911" y="120700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166"/>
                </a:solidFill>
              </a:rPr>
              <a:t>Managed Vector DB
(Pinecone / Weaviate)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9911" y="1773936"/>
            <a:ext cx="35204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Replace local ChromaDB. Auto-scales, no single-node bottleneck. REST API means fully horizontal-ready.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767328"/>
            <a:ext cx="3794760" cy="2514600"/>
          </a:xfrm>
          <a:prstGeom prst="rect">
            <a:avLst/>
          </a:prstGeom>
          <a:solidFill>
            <a:srgbClr val="06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3767328"/>
            <a:ext cx="82296" cy="25146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514600" y="3858768"/>
            <a:ext cx="1508760" cy="274320"/>
          </a:xfrm>
          <a:prstGeom prst="rect">
            <a:avLst/>
          </a:prstGeom>
          <a:solidFill>
            <a:srgbClr val="12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14600" y="3858768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FF6B35"/>
                </a:solidFill>
              </a:rPr>
              <a:t>High load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" y="385876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</a:rPr>
              <a:t>vLLM / TGI
(replace Ollama)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" y="4425696"/>
            <a:ext cx="35204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Continuous batching, paged attention. 5-10x LLM throughput vs single-request Ollama.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97679" y="3767328"/>
            <a:ext cx="3794760" cy="2514600"/>
          </a:xfrm>
          <a:prstGeom prst="rect">
            <a:avLst/>
          </a:prstGeom>
          <a:solidFill>
            <a:srgbClr val="06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97679" y="3767328"/>
            <a:ext cx="82296" cy="2514600"/>
          </a:xfrm>
          <a:prstGeom prst="rect">
            <a:avLst/>
          </a:prstGeom>
          <a:solidFill>
            <a:srgbClr val="C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92240" y="3858768"/>
            <a:ext cx="1508760" cy="274320"/>
          </a:xfrm>
          <a:prstGeom prst="rect">
            <a:avLst/>
          </a:prstGeom>
          <a:solidFill>
            <a:srgbClr val="12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3858768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C07AFF"/>
                </a:solidFill>
              </a:rPr>
              <a:t>Enterprise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62271" y="385876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7AFF"/>
                </a:solidFill>
              </a:rPr>
              <a:t>Kubernetes
Horizontal Pod Autoscaler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62271" y="4425696"/>
            <a:ext cx="35204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Stateless FastAPI pods behind load balancer. Each shares Redis + Pinecone. Scale on CPU/RPS metrics.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75319" y="3767328"/>
            <a:ext cx="3794760" cy="2514600"/>
          </a:xfrm>
          <a:prstGeom prst="rect">
            <a:avLst/>
          </a:prstGeom>
          <a:solidFill>
            <a:srgbClr val="06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75319" y="3767328"/>
            <a:ext cx="82296" cy="251460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69880" y="3858768"/>
            <a:ext cx="1508760" cy="274320"/>
          </a:xfrm>
          <a:prstGeom prst="rect">
            <a:avLst/>
          </a:prstGeom>
          <a:solidFill>
            <a:srgbClr val="12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469880" y="3858768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0E0EF"/>
                </a:solidFill>
              </a:rPr>
              <a:t>Code change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39911" y="385876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0E0EF"/>
                </a:solidFill>
              </a:rPr>
              <a:t>Async LangGraph
+ Parallel Retrieval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39911" y="4425696"/>
            <a:ext cx="35204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Convert all nodes to async. Run BM25 + semantic retrieval in parallel via asyncio.gather. ~40% faster.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Cost Reduction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0E0EF"/>
                </a:solidFill>
              </a:rPr>
              <a:t>From prototype to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0E0EF"/>
                </a:solidFill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15568"/>
            <a:ext cx="5623560" cy="5440680"/>
          </a:xfrm>
          <a:prstGeom prst="rect">
            <a:avLst/>
          </a:prstGeom>
          <a:solidFill>
            <a:srgbClr val="06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7043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B35"/>
                </a:solidFill>
              </a:rPr>
              <a:t>Cost Reduction Strategies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664208"/>
            <a:ext cx="5394960" cy="822960"/>
          </a:xfrm>
          <a:prstGeom prst="rect">
            <a:avLst/>
          </a:prstGeom>
          <a:solidFill>
            <a:srgbClr val="0A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664208"/>
            <a:ext cx="64008" cy="8229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166"/>
                </a:solidFill>
              </a:rPr>
              <a:t>Semantic Cache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99339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30% queries at zero LLM cost. Already implemented. Upgrade to Redis for distributed scale.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560320"/>
            <a:ext cx="5394960" cy="822960"/>
          </a:xfrm>
          <a:prstGeom prst="rect">
            <a:avLst/>
          </a:prstGeom>
          <a:solidFill>
            <a:srgbClr val="0A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2560320"/>
            <a:ext cx="64008" cy="8229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587752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166"/>
                </a:solidFill>
              </a:rPr>
              <a:t>Skip Multi-Query on pass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889504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Already done. Saves 2 LLM calls on ~67% of all queries (first attempt passes).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456432"/>
            <a:ext cx="5394960" cy="822960"/>
          </a:xfrm>
          <a:prstGeom prst="rect">
            <a:avLst/>
          </a:prstGeom>
          <a:solidFill>
            <a:srgbClr val="0A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3456432"/>
            <a:ext cx="64008" cy="8229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483864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166"/>
                </a:solidFill>
              </a:rPr>
              <a:t>Quantized GGUF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785616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gemma2:2b Q4_K_M = 1.5GB, 3x faster. Phi-3-mini for even lower memory + cost.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4352544"/>
            <a:ext cx="5394960" cy="822960"/>
          </a:xfrm>
          <a:prstGeom prst="rect">
            <a:avLst/>
          </a:prstGeom>
          <a:solidFill>
            <a:srgbClr val="0A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" y="4352544"/>
            <a:ext cx="64008" cy="8229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379976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166"/>
                </a:solidFill>
              </a:rPr>
              <a:t>Prompt compression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68172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Use top-2 docs instead of top-3 = fewer input tokens = faster and cheaper per call.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5248656"/>
            <a:ext cx="5394960" cy="822960"/>
          </a:xfrm>
          <a:prstGeom prst="rect">
            <a:avLst/>
          </a:prstGeom>
          <a:solidFill>
            <a:srgbClr val="0A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80" y="5248656"/>
            <a:ext cx="64008" cy="8229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276088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166"/>
                </a:solidFill>
              </a:rPr>
              <a:t>Batch embedding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5778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batch_size=256 already set. Reduces GPU round-trips for ingestion by 10x.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1115568"/>
            <a:ext cx="5577840" cy="5440680"/>
          </a:xfrm>
          <a:prstGeom prst="rect">
            <a:avLst/>
          </a:prstGeom>
          <a:solidFill>
            <a:srgbClr val="06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117043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D68A"/>
                </a:solidFill>
              </a:rPr>
              <a:t>Future Scope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5080" y="1664208"/>
            <a:ext cx="5394960" cy="822960"/>
          </a:xfrm>
          <a:prstGeom prst="rect">
            <a:avLst/>
          </a:prstGeom>
          <a:solidFill>
            <a:srgbClr val="0A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55080" y="1664208"/>
            <a:ext cx="64008" cy="822960"/>
          </a:xfrm>
          <a:prstGeom prst="rect">
            <a:avLst/>
          </a:prstGeom>
          <a:solidFill>
            <a:srgbClr val="06D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169164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Multi-language support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199339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Extend to JS, Go, Rust using language-tagged ChromaDB collections.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5080" y="2560320"/>
            <a:ext cx="5394960" cy="822960"/>
          </a:xfrm>
          <a:prstGeom prst="rect">
            <a:avLst/>
          </a:prstGeom>
          <a:solidFill>
            <a:srgbClr val="0A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55080" y="2560320"/>
            <a:ext cx="64008" cy="822960"/>
          </a:xfrm>
          <a:prstGeom prst="rect">
            <a:avLst/>
          </a:prstGeom>
          <a:solidFill>
            <a:srgbClr val="06D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2587752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Feedback -&gt; reranker fine-tune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2889504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Use /feedback ratings to fine-tune ms-marco on domain Q&amp;A pairs.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5080" y="3456432"/>
            <a:ext cx="5394960" cy="822960"/>
          </a:xfrm>
          <a:prstGeom prst="rect">
            <a:avLst/>
          </a:prstGeom>
          <a:solidFill>
            <a:srgbClr val="0A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355080" y="3456432"/>
            <a:ext cx="64008" cy="822960"/>
          </a:xfrm>
          <a:prstGeom prst="rect">
            <a:avLst/>
          </a:prstGeom>
          <a:solidFill>
            <a:srgbClr val="06D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92240" y="3483864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GraphRAG / Knowledge Graph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3785616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Link SO questions via shared tags for richer cross-concept retrieval.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55080" y="4352544"/>
            <a:ext cx="5394960" cy="822960"/>
          </a:xfrm>
          <a:prstGeom prst="rect">
            <a:avLst/>
          </a:prstGeom>
          <a:solidFill>
            <a:srgbClr val="0A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5080" y="4352544"/>
            <a:ext cx="64008" cy="822960"/>
          </a:xfrm>
          <a:prstGeom prst="rect">
            <a:avLst/>
          </a:prstGeom>
          <a:solidFill>
            <a:srgbClr val="06D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92240" y="4379976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Answer confidence calibration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92240" y="468172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Train lightweight classifier for calibrated confidence scores.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55080" y="5248656"/>
            <a:ext cx="5394960" cy="822960"/>
          </a:xfrm>
          <a:prstGeom prst="rect">
            <a:avLst/>
          </a:prstGeom>
          <a:solidFill>
            <a:srgbClr val="0A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355080" y="5248656"/>
            <a:ext cx="64008" cy="822960"/>
          </a:xfrm>
          <a:prstGeom prst="rect">
            <a:avLst/>
          </a:prstGeom>
          <a:solidFill>
            <a:srgbClr val="06D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92240" y="5276088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Real-time index updates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92240" y="55778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Incremental ingestion of new SO answers as they get posted.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